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66" r:id="rId6"/>
    <p:sldId id="268" r:id="rId7"/>
    <p:sldId id="269" r:id="rId8"/>
    <p:sldId id="259" r:id="rId9"/>
    <p:sldId id="273" r:id="rId10"/>
    <p:sldId id="274" r:id="rId11"/>
    <p:sldId id="275" r:id="rId12"/>
    <p:sldId id="260" r:id="rId13"/>
    <p:sldId id="262" r:id="rId14"/>
    <p:sldId id="263" r:id="rId15"/>
    <p:sldId id="264" r:id="rId16"/>
    <p:sldId id="270" r:id="rId17"/>
    <p:sldId id="272" r:id="rId18"/>
    <p:sldId id="271"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8" d="100"/>
          <a:sy n="98" d="100"/>
        </p:scale>
        <p:origin x="110" y="1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sh T" userId="3525da5f7f8eadf4" providerId="LiveId" clId="{7456622E-A43F-45D0-AB8C-206021E3BA24}"/>
    <pc:docChg chg="custSel modSld">
      <pc:chgData name="Harish T" userId="3525da5f7f8eadf4" providerId="LiveId" clId="{7456622E-A43F-45D0-AB8C-206021E3BA24}" dt="2026-08-18T04:35:13.299" v="3" actId="14100"/>
      <pc:docMkLst>
        <pc:docMk/>
      </pc:docMkLst>
      <pc:sldChg chg="addSp delSp modSp mod">
        <pc:chgData name="Harish T" userId="3525da5f7f8eadf4" providerId="LiveId" clId="{7456622E-A43F-45D0-AB8C-206021E3BA24}" dt="2026-08-18T04:35:13.299" v="3" actId="14100"/>
        <pc:sldMkLst>
          <pc:docMk/>
          <pc:sldMk cId="2093185656" sldId="262"/>
        </pc:sldMkLst>
        <pc:picChg chg="del">
          <ac:chgData name="Harish T" userId="3525da5f7f8eadf4" providerId="LiveId" clId="{7456622E-A43F-45D0-AB8C-206021E3BA24}" dt="2026-08-18T04:34:45.103" v="0" actId="478"/>
          <ac:picMkLst>
            <pc:docMk/>
            <pc:sldMk cId="2093185656" sldId="262"/>
            <ac:picMk id="3" creationId="{10FAEE9D-2F41-AD21-A2A4-F1222CF1406E}"/>
          </ac:picMkLst>
        </pc:picChg>
        <pc:picChg chg="add mod">
          <ac:chgData name="Harish T" userId="3525da5f7f8eadf4" providerId="LiveId" clId="{7456622E-A43F-45D0-AB8C-206021E3BA24}" dt="2026-08-18T04:35:13.299" v="3" actId="14100"/>
          <ac:picMkLst>
            <pc:docMk/>
            <pc:sldMk cId="2093185656" sldId="262"/>
            <ac:picMk id="5" creationId="{1477681A-3610-0B1A-3A5A-650FAD7A32C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18-08-2026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18-08-2026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6D3AB4-8ABA-DB1F-1044-9F01F9F2C53C}"/>
              </a:ext>
            </a:extLst>
          </p:cNvPr>
          <p:cNvPicPr>
            <a:picLocks noChangeAspect="1" noChangeArrowheads="1"/>
          </p:cNvPicPr>
          <p:nvPr/>
        </p:nvPicPr>
        <p:blipFill>
          <a:blip r:embed="rId2"/>
          <a:srcRect/>
          <a:stretch>
            <a:fillRect/>
          </a:stretch>
        </p:blipFill>
        <p:spPr bwMode="auto">
          <a:xfrm>
            <a:off x="0" y="0"/>
            <a:ext cx="12217400" cy="1287957"/>
          </a:xfrm>
          <a:prstGeom prst="rect">
            <a:avLst/>
          </a:prstGeom>
          <a:noFill/>
          <a:ln w="9525">
            <a:noFill/>
            <a:miter lim="800000"/>
            <a:headEnd/>
            <a:tailEnd/>
          </a:ln>
          <a:effectLst/>
        </p:spPr>
      </p:pic>
      <p:sp>
        <p:nvSpPr>
          <p:cNvPr id="5" name="TextBox 4">
            <a:extLst>
              <a:ext uri="{FF2B5EF4-FFF2-40B4-BE49-F238E27FC236}">
                <a16:creationId xmlns:a16="http://schemas.microsoft.com/office/drawing/2014/main" id="{AAAD3E1D-C7A1-62CA-B230-176A44EAF999}"/>
              </a:ext>
            </a:extLst>
          </p:cNvPr>
          <p:cNvSpPr txBox="1"/>
          <p:nvPr/>
        </p:nvSpPr>
        <p:spPr>
          <a:xfrm>
            <a:off x="1472246" y="2744774"/>
            <a:ext cx="9516821" cy="430887"/>
          </a:xfrm>
          <a:prstGeom prst="rect">
            <a:avLst/>
          </a:prstGeom>
          <a:noFill/>
        </p:spPr>
        <p:txBody>
          <a:bodyPr wrap="square">
            <a:spAutoFit/>
          </a:bodyPr>
          <a:lstStyle/>
          <a:p>
            <a:pPr algn="just" rtl="0">
              <a:buNone/>
            </a:pPr>
            <a:r>
              <a:rPr lang="en-US" sz="2200" b="1" i="0" cap="all" dirty="0">
                <a:solidFill>
                  <a:schemeClr val="accent5">
                    <a:lumMod val="50000"/>
                  </a:schemeClr>
                </a:solidFill>
                <a:effectLst/>
                <a:latin typeface="Times New Roman" panose="02020603050405020304" pitchFamily="18" charset="0"/>
                <a:ea typeface="Cambria" panose="02040503050406030204" pitchFamily="18" charset="0"/>
                <a:cs typeface="Times New Roman" panose="02020603050405020304" pitchFamily="18" charset="0"/>
              </a:rPr>
              <a:t>CSA5803 - DEVSECOPS ENGINEERING AND APPLICATION SECURITY</a:t>
            </a:r>
          </a:p>
        </p:txBody>
      </p:sp>
      <p:sp>
        <p:nvSpPr>
          <p:cNvPr id="11" name="TextBox 10">
            <a:extLst>
              <a:ext uri="{FF2B5EF4-FFF2-40B4-BE49-F238E27FC236}">
                <a16:creationId xmlns:a16="http://schemas.microsoft.com/office/drawing/2014/main" id="{5898A4E7-D69E-C448-1FC2-8DE2EBECF36A}"/>
              </a:ext>
            </a:extLst>
          </p:cNvPr>
          <p:cNvSpPr txBox="1"/>
          <p:nvPr/>
        </p:nvSpPr>
        <p:spPr>
          <a:xfrm>
            <a:off x="7691119" y="4887801"/>
            <a:ext cx="4500881" cy="1477328"/>
          </a:xfrm>
          <a:prstGeom prst="rect">
            <a:avLst/>
          </a:prstGeom>
          <a:noFill/>
        </p:spPr>
        <p:txBody>
          <a:bodyPr wrap="square">
            <a:spAutoFit/>
          </a:bodyPr>
          <a:lstStyle/>
          <a:p>
            <a:pPr lvl="1">
              <a:spcBef>
                <a:spcPts val="550"/>
              </a:spcBef>
              <a:buClr>
                <a:srgbClr val="4F81BD"/>
              </a:buClr>
              <a:buSzPct val="70000"/>
            </a:pPr>
            <a:r>
              <a:rPr lang="en-US" sz="2000" i="1" dirty="0">
                <a:solidFill>
                  <a:schemeClr val="accent4">
                    <a:lumMod val="50000"/>
                  </a:schemeClr>
                </a:solidFill>
                <a:latin typeface="Cambria" panose="02040503050406030204" pitchFamily="18" charset="0"/>
                <a:ea typeface="Cambria" panose="02040503050406030204" pitchFamily="18" charset="0"/>
                <a:cs typeface="Times New Roman" panose="02020603050405020304" pitchFamily="18" charset="0"/>
              </a:rPr>
              <a:t>Presented by, </a:t>
            </a:r>
            <a:br>
              <a:rPr lang="en-US" sz="2000" b="1" dirty="0">
                <a:solidFill>
                  <a:srgbClr val="C00000"/>
                </a:solidFill>
                <a:latin typeface="Cambria" panose="02040503050406030204" pitchFamily="18" charset="0"/>
                <a:ea typeface="Cambria" panose="02040503050406030204" pitchFamily="18" charset="0"/>
                <a:cs typeface="Times New Roman" panose="02020603050405020304" pitchFamily="18" charset="0"/>
              </a:rPr>
            </a:br>
            <a:r>
              <a:rPr lang="en-US" sz="2000"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Y Guru Charan(192565020)</a:t>
            </a:r>
          </a:p>
          <a:p>
            <a:pPr lvl="1">
              <a:spcBef>
                <a:spcPts val="550"/>
              </a:spcBef>
              <a:buClr>
                <a:srgbClr val="4F81BD"/>
              </a:buClr>
              <a:buSzPct val="70000"/>
            </a:pPr>
            <a:r>
              <a:rPr lang="en-US" sz="2000"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 M Gokul(192565067)</a:t>
            </a:r>
          </a:p>
          <a:p>
            <a:pPr lvl="1">
              <a:spcBef>
                <a:spcPts val="550"/>
              </a:spcBef>
              <a:buClr>
                <a:srgbClr val="4F81BD"/>
              </a:buClr>
              <a:buSzPct val="70000"/>
            </a:pPr>
            <a:r>
              <a:rPr lang="en-US" sz="2000"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T Harish (192521373)</a:t>
            </a:r>
            <a:r>
              <a:rPr lang="en-US" sz="2000" b="1" dirty="0">
                <a:solidFill>
                  <a:srgbClr val="002060"/>
                </a:solidFill>
                <a:latin typeface="Cambria" panose="02040503050406030204" pitchFamily="18" charset="0"/>
                <a:ea typeface="Cambria" panose="02040503050406030204" pitchFamily="18" charset="0"/>
                <a:cs typeface="Times New Roman" panose="02020603050405020304" pitchFamily="18" charset="0"/>
              </a:rPr>
              <a:t>	</a:t>
            </a:r>
            <a:endParaRPr lang="en-IN" sz="2000" dirty="0">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82CDEA37-C6AC-1EE2-8FFE-209ACD903C9A}"/>
              </a:ext>
            </a:extLst>
          </p:cNvPr>
          <p:cNvSpPr txBox="1"/>
          <p:nvPr/>
        </p:nvSpPr>
        <p:spPr>
          <a:xfrm>
            <a:off x="352371" y="1970199"/>
            <a:ext cx="11756572" cy="523220"/>
          </a:xfrm>
          <a:prstGeom prst="rect">
            <a:avLst/>
          </a:prstGeom>
          <a:noFill/>
        </p:spPr>
        <p:txBody>
          <a:bodyPr wrap="square">
            <a:spAutoFit/>
          </a:bodyPr>
          <a:lstStyle/>
          <a:p>
            <a:pPr marL="36195" marR="0" algn="ctr">
              <a:spcAft>
                <a:spcPts val="600"/>
              </a:spcAft>
              <a:buNone/>
            </a:pPr>
            <a:r>
              <a:rPr lang="en-US"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CI/CD Pipeline Automation with Integrated SAST, DAST, and SCA</a:t>
            </a:r>
            <a:endParaRPr lang="en-IN" sz="2800" b="1" dirty="0">
              <a:solidFill>
                <a:srgbClr val="FF0000"/>
              </a:solidFill>
              <a:effectLst/>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0186E62-555B-E8F9-1FBB-0D22F74BA20A}"/>
              </a:ext>
            </a:extLst>
          </p:cNvPr>
          <p:cNvSpPr txBox="1"/>
          <p:nvPr/>
        </p:nvSpPr>
        <p:spPr>
          <a:xfrm>
            <a:off x="175064" y="4695441"/>
            <a:ext cx="530352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3">
                    <a:lumMod val="50000"/>
                  </a:schemeClr>
                </a:solidFill>
                <a:latin typeface="Cambria" panose="02040503050406030204" pitchFamily="18" charset="0"/>
                <a:ea typeface="Cambria" panose="02040503050406030204" pitchFamily="18" charset="0"/>
                <a:cs typeface="Times New Roman" panose="02020603050405020304" pitchFamily="18" charset="0"/>
              </a:rPr>
              <a:t>Guided by, </a:t>
            </a:r>
            <a:br>
              <a:rPr lang="en-US" sz="2000" b="1" dirty="0">
                <a:solidFill>
                  <a:srgbClr val="C00000"/>
                </a:solidFill>
                <a:latin typeface="Cambria" panose="02040503050406030204" pitchFamily="18" charset="0"/>
                <a:ea typeface="Cambria" panose="02040503050406030204" pitchFamily="18" charset="0"/>
                <a:cs typeface="Times New Roman" panose="02020603050405020304" pitchFamily="18" charset="0"/>
              </a:rPr>
            </a:br>
            <a:r>
              <a:rPr lang="en-US" sz="2000" i="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Dr. R. Pitchandi</a:t>
            </a:r>
          </a:p>
          <a:p>
            <a:pPr lvl="1">
              <a:spcBef>
                <a:spcPts val="550"/>
              </a:spcBef>
              <a:buClr>
                <a:srgbClr val="4F81BD"/>
              </a:buClr>
              <a:buSzPct val="70000"/>
            </a:pPr>
            <a:r>
              <a:rPr lang="en-US" sz="2000" i="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Associate Professor</a:t>
            </a:r>
          </a:p>
          <a:p>
            <a:pPr lvl="1">
              <a:spcBef>
                <a:spcPts val="550"/>
              </a:spcBef>
              <a:buClr>
                <a:srgbClr val="4F81BD"/>
              </a:buClr>
              <a:buSzPct val="70000"/>
            </a:pPr>
            <a:r>
              <a:rPr lang="en-US" sz="2000" i="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Department of Applied Machine Learning</a:t>
            </a:r>
          </a:p>
          <a:p>
            <a:pPr lvl="1">
              <a:spcBef>
                <a:spcPts val="550"/>
              </a:spcBef>
              <a:buClr>
                <a:srgbClr val="4F81BD"/>
              </a:buClr>
              <a:buSzPct val="70000"/>
            </a:pPr>
            <a:r>
              <a:rPr lang="en-US" sz="2000" i="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SIMATS Engineering</a:t>
            </a:r>
            <a:r>
              <a:rPr lang="en-US"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endParaRPr lang="en-IN" sz="20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B6F94-3F67-6C03-6A1C-E70F63E32428}"/>
              </a:ext>
            </a:extLst>
          </p:cNvPr>
          <p:cNvSpPr txBox="1"/>
          <p:nvPr/>
        </p:nvSpPr>
        <p:spPr>
          <a:xfrm>
            <a:off x="5016862" y="344381"/>
            <a:ext cx="2158275"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AEB2E3B9-103C-0A4E-E38E-D18457838DB6}"/>
              </a:ext>
            </a:extLst>
          </p:cNvPr>
          <p:cNvSpPr txBox="1"/>
          <p:nvPr/>
        </p:nvSpPr>
        <p:spPr>
          <a:xfrm>
            <a:off x="853439" y="1069565"/>
            <a:ext cx="10485120" cy="5444054"/>
          </a:xfrm>
          <a:prstGeom prst="rect">
            <a:avLst/>
          </a:prstGeom>
          <a:noFill/>
        </p:spPr>
        <p:txBody>
          <a:bodyPr wrap="square">
            <a:spAutoFit/>
          </a:bodyPr>
          <a:lstStyle/>
          <a:p>
            <a:pPr algn="just">
              <a:lnSpc>
                <a:spcPct val="150000"/>
              </a:lnSpc>
              <a:buNone/>
            </a:pPr>
            <a:r>
              <a:rPr lang="en-IN" dirty="0">
                <a:latin typeface="Times New Roman" panose="02020603050405020304" pitchFamily="18" charset="0"/>
                <a:cs typeface="Times New Roman" panose="02020603050405020304" pitchFamily="18" charset="0"/>
              </a:rPr>
              <a:t>This study presents an automated CI/CD pipeline framework integrated with Static Application Security Testing (SAST), Dynamic Application Security Testing (DAST), and Software Composition Analysis (SCA) to strengthen software security across the entire development lifecycle. The proposed system simulates real-world development environments by incorporating continuous integration, automated testing, and deployment stages along with built-in security checks at each phase. A synthetic dataset and controlled pipeline scenarios were used to evaluate the effectiveness of the integrated security mechanisms in identifying vulnerabilities in both source code and runtime applications. The framework was designed, implemented, and tested under multiple conditions to ensure consistent performance and reliability. Comparative analysis with traditional CI/CD pipelines showed significant improvements in early vulnerability detection, reduced security risks, and enhanced deployment stability. Visualization techniques were applied to interpret pipeline performance, detection accuracy, and overall system efficiency. The results demonstrate that integrating SAST, DAST, and SCA within CI/CD pipelines enables proactive security enforcement, supports secure coding practices, and minimizes potential threats before production deployment.</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8813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659085" y="664421"/>
            <a:ext cx="2873829"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158930" y="1537969"/>
            <a:ext cx="6990016" cy="3782061"/>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Traditional CI/CD pipelines focus mainly on speed and efficiency but often lack integrated security measures. </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Increasing cyber threats and vulnerabilities in software systems demand the integration of security within the development lifecycle (DevSecOps).</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SAST (Static Application Security Testing) helps identify vulnerabilities in source code during the development phase.</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DAST (Dynamic Application Security Testing) detects security issues in running applications during runtime.</a:t>
            </a:r>
            <a:endParaRPr lang="en-US"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DA8B32A-09D6-6BD1-4324-3A1BE5D22635}"/>
              </a:ext>
            </a:extLst>
          </p:cNvPr>
          <p:cNvPicPr>
            <a:picLocks noChangeAspect="1"/>
          </p:cNvPicPr>
          <p:nvPr/>
        </p:nvPicPr>
        <p:blipFill>
          <a:blip r:embed="rId2"/>
          <a:stretch>
            <a:fillRect/>
          </a:stretch>
        </p:blipFill>
        <p:spPr>
          <a:xfrm>
            <a:off x="7602682" y="1899226"/>
            <a:ext cx="4589318" cy="3059545"/>
          </a:xfrm>
          <a:prstGeom prst="rect">
            <a:avLst/>
          </a:prstGeom>
        </p:spPr>
      </p:pic>
    </p:spTree>
    <p:extLst>
      <p:ext uri="{BB962C8B-B14F-4D97-AF65-F5344CB8AC3E}">
        <p14:creationId xmlns:p14="http://schemas.microsoft.com/office/powerpoint/2010/main" val="3693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1387102630"/>
              </p:ext>
            </p:extLst>
          </p:nvPr>
        </p:nvGraphicFramePr>
        <p:xfrm>
          <a:off x="231321" y="824140"/>
          <a:ext cx="11729357" cy="5395280"/>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a:solidFill>
                            <a:schemeClr val="tx1">
                              <a:lumMod val="85000"/>
                              <a:lumOff val="15000"/>
                            </a:schemeClr>
                          </a:solidFill>
                          <a:effectLst/>
                          <a:latin typeface="Times New Roman" panose="02020603050405020304" pitchFamily="18" charset="0"/>
                          <a:cs typeface="Times New Roman" panose="020206030504050203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Times New Roman" panose="02020603050405020304" pitchFamily="18" charset="0"/>
                          <a:cs typeface="Times New Roman" panose="020206030504050203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Times New Roman" panose="02020603050405020304" pitchFamily="18" charset="0"/>
                          <a:cs typeface="Times New Roman" panose="020206030504050203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l" fontAlgn="ctr">
                        <a:buNone/>
                      </a:pPr>
                      <a:r>
                        <a:rPr lang="en-IN" sz="1600" dirty="0">
                          <a:latin typeface="Times New Roman" panose="02020603050405020304" pitchFamily="18" charset="0"/>
                          <a:cs typeface="Times New Roman" panose="02020603050405020304" pitchFamily="18" charset="0"/>
                        </a:rPr>
                        <a:t>Behl, A., 2017, IEEE Software</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DevSecOps: Integrating Security into DevOps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Introduced the concept of integrating security practices into CI/CD pipelines, emphasizing early vulnerability detection and continuous monitoring throughout the software development lifecycle.</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a:latin typeface="Times New Roman" panose="02020603050405020304" pitchFamily="18" charset="0"/>
                          <a:cs typeface="Times New Roman" panose="02020603050405020304" pitchFamily="18" charset="0"/>
                        </a:rPr>
                        <a:t>Rahman, M. &amp; Williams, L., 2018, ACM Digital Library</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Security Practices in Continuous Integration Environments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err="1">
                          <a:latin typeface="Times New Roman" panose="02020603050405020304" pitchFamily="18" charset="0"/>
                          <a:cs typeface="Times New Roman" panose="02020603050405020304" pitchFamily="18" charset="0"/>
                        </a:rPr>
                        <a:t>Analyzed</a:t>
                      </a:r>
                      <a:r>
                        <a:rPr lang="en-IN" sz="1600" dirty="0">
                          <a:latin typeface="Times New Roman" panose="02020603050405020304" pitchFamily="18" charset="0"/>
                          <a:cs typeface="Times New Roman" panose="02020603050405020304" pitchFamily="18" charset="0"/>
                        </a:rPr>
                        <a:t> security challenges in CI pipelines and highlighted the importance of automated static analysis (SAST) to detect vulnerabilities during the coding phase.</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IN" sz="1600" b="0" dirty="0">
                          <a:latin typeface="Times New Roman" panose="02020603050405020304" pitchFamily="18" charset="0"/>
                          <a:cs typeface="Times New Roman" panose="02020603050405020304" pitchFamily="18" charset="0"/>
                        </a:rPr>
                        <a:t>Sharma, T., 2019, International Journal of Computer Applications</a:t>
                      </a:r>
                      <a:br>
                        <a:rPr lang="en-IN" sz="1600" dirty="0">
                          <a:latin typeface="Times New Roman" panose="02020603050405020304" pitchFamily="18" charset="0"/>
                          <a:cs typeface="Times New Roman" panose="02020603050405020304" pitchFamily="18" charset="0"/>
                        </a:rPr>
                      </a:b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Automated Security Testing in CI/CD Pipelines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Demonstrated how integrating automated testing tools improves detection rates of software vulnerabilities and reduces manual intervention</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IN" sz="1600" dirty="0">
                          <a:latin typeface="Times New Roman" panose="02020603050405020304" pitchFamily="18" charset="0"/>
                          <a:cs typeface="Times New Roman" panose="02020603050405020304" pitchFamily="18" charset="0"/>
                        </a:rPr>
                        <a:t>Kumar, R. &amp; Singh, P., 2020, IEEE Access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Dynamic Application Security Testing in DevOps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Showed that DAST tools effectively identify runtime vulnerabilities and misconfigurations, enhancing application security during deployment stages</a:t>
                      </a:r>
                      <a:r>
                        <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rPr>
                        <a:t>.</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694324">
                <a:tc>
                  <a:txBody>
                    <a:bodyPr/>
                    <a:lstStyle/>
                    <a:p>
                      <a:pPr algn="l" fontAlgn="ctr">
                        <a:buNone/>
                      </a:pPr>
                      <a:r>
                        <a:rPr lang="en-IN" sz="1600" dirty="0">
                          <a:latin typeface="Times New Roman" panose="02020603050405020304" pitchFamily="18" charset="0"/>
                          <a:cs typeface="Times New Roman" panose="02020603050405020304" pitchFamily="18" charset="0"/>
                        </a:rPr>
                        <a:t>Zhang, Q., 2021, Journal of Cybersecurity</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Software Composition Analysis for Open Source Risk Management</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Highlighted the importance of SCA in identifying vulnerabilities in third-party libraries and ensuring compliance with licensing policies.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r h="708357">
                <a:tc>
                  <a:txBody>
                    <a:bodyPr/>
                    <a:lstStyle/>
                    <a:p>
                      <a:pPr algn="l" fontAlgn="ctr">
                        <a:buNone/>
                      </a:pPr>
                      <a:r>
                        <a:rPr lang="en-IN" sz="1600" dirty="0">
                          <a:latin typeface="Times New Roman" panose="02020603050405020304" pitchFamily="18" charset="0"/>
                          <a:cs typeface="Times New Roman" panose="02020603050405020304" pitchFamily="18" charset="0"/>
                        </a:rPr>
                        <a:t>Reddy, K. &amp; Rao, V., 2023, International Conference on DevOps and Cloud Computing</a:t>
                      </a:r>
                      <a:endParaRPr lang="en-IN"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Secure CI/CD Pipeline Automation using DevSecOps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Times New Roman" panose="02020603050405020304" pitchFamily="18" charset="0"/>
                          <a:cs typeface="Times New Roman" panose="02020603050405020304" pitchFamily="18" charset="0"/>
                        </a:rPr>
                        <a:t>Demonstrated that automation of security tools within CI/CD pipelines enhances deployment speed while maintaining strong security standards.</a:t>
                      </a:r>
                      <a:endParaRPr lang="en-US" sz="1600" b="0" i="0" u="none" strike="noStrike" dirty="0">
                        <a:solidFill>
                          <a:schemeClr val="tx1">
                            <a:lumMod val="85000"/>
                            <a:lumOff val="15000"/>
                          </a:schemeClr>
                        </a:solidFill>
                        <a:effectLst/>
                        <a:latin typeface="Times New Roman" panose="02020603050405020304" pitchFamily="18" charset="0"/>
                        <a:cs typeface="Times New Roman" panose="020206030504050203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7370945"/>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0ED51E-5CCE-AC76-9C4D-BF7794315E57}"/>
              </a:ext>
            </a:extLst>
          </p:cNvPr>
          <p:cNvSpPr txBox="1"/>
          <p:nvPr/>
        </p:nvSpPr>
        <p:spPr>
          <a:xfrm>
            <a:off x="4422502" y="456141"/>
            <a:ext cx="3346995"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Research Gaps</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5F3B0975-318A-767B-09F3-7282DFEF2408}"/>
              </a:ext>
            </a:extLst>
          </p:cNvPr>
          <p:cNvSpPr txBox="1"/>
          <p:nvPr/>
        </p:nvSpPr>
        <p:spPr>
          <a:xfrm>
            <a:off x="375556" y="2217745"/>
            <a:ext cx="11440886" cy="2120068"/>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High </a:t>
            </a:r>
            <a:r>
              <a:rPr lang="en-IN" b="1" dirty="0">
                <a:latin typeface="Times New Roman" panose="02020603050405020304" pitchFamily="18" charset="0"/>
                <a:cs typeface="Times New Roman" panose="02020603050405020304" pitchFamily="18" charset="0"/>
              </a:rPr>
              <a:t>false positive rates</a:t>
            </a:r>
            <a:r>
              <a:rPr lang="en-IN" dirty="0">
                <a:latin typeface="Times New Roman" panose="02020603050405020304" pitchFamily="18" charset="0"/>
                <a:cs typeface="Times New Roman" panose="02020603050405020304" pitchFamily="18" charset="0"/>
              </a:rPr>
              <a:t> in security tools reduce developer trust and slow down the pipeline.</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Existing solutions do not adequately address </a:t>
            </a:r>
            <a:r>
              <a:rPr lang="en-IN" b="1" dirty="0">
                <a:latin typeface="Times New Roman" panose="02020603050405020304" pitchFamily="18" charset="0"/>
                <a:cs typeface="Times New Roman" panose="02020603050405020304" pitchFamily="18" charset="0"/>
              </a:rPr>
              <a:t>security in microservices and cloud-native architectures</a:t>
            </a:r>
            <a:r>
              <a:rPr lang="en-IN" dirty="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Lack of </a:t>
            </a:r>
            <a:r>
              <a:rPr lang="en-IN" b="1" dirty="0">
                <a:latin typeface="Times New Roman" panose="02020603050405020304" pitchFamily="18" charset="0"/>
                <a:cs typeface="Times New Roman" panose="02020603050405020304" pitchFamily="18" charset="0"/>
              </a:rPr>
              <a:t>real-time vulnerability prioritization mechanisms</a:t>
            </a:r>
            <a:r>
              <a:rPr lang="en-IN" dirty="0">
                <a:latin typeface="Times New Roman" panose="02020603050405020304" pitchFamily="18" charset="0"/>
                <a:cs typeface="Times New Roman" panose="02020603050405020304" pitchFamily="18" charset="0"/>
              </a:rPr>
              <a:t> based on risk severity.</a:t>
            </a:r>
            <a:endParaRPr lang="en-IN"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Existing CI/CD pipelines often integrate security tools, but lack </a:t>
            </a:r>
            <a:r>
              <a:rPr lang="en-IN" b="1" dirty="0">
                <a:latin typeface="Times New Roman" panose="02020603050405020304" pitchFamily="18" charset="0"/>
                <a:cs typeface="Times New Roman" panose="02020603050405020304" pitchFamily="18" charset="0"/>
              </a:rPr>
              <a:t>full end-to-end automation</a:t>
            </a:r>
            <a:r>
              <a:rPr lang="en-IN" dirty="0">
                <a:latin typeface="Times New Roman" panose="02020603050405020304" pitchFamily="18" charset="0"/>
                <a:cs typeface="Times New Roman" panose="02020603050405020304" pitchFamily="18" charset="0"/>
              </a:rPr>
              <a:t> across all stages.</a:t>
            </a:r>
            <a:endParaRPr lang="en-IN"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Limited research on </a:t>
            </a:r>
            <a:r>
              <a:rPr lang="en-IN" b="1" dirty="0">
                <a:latin typeface="Times New Roman" panose="02020603050405020304" pitchFamily="18" charset="0"/>
                <a:cs typeface="Times New Roman" panose="02020603050405020304" pitchFamily="18" charset="0"/>
              </a:rPr>
              <a:t>efficient integration of SAST, DAST, and SCA together</a:t>
            </a:r>
            <a:r>
              <a:rPr lang="en-IN" dirty="0">
                <a:latin typeface="Times New Roman" panose="02020603050405020304" pitchFamily="18" charset="0"/>
                <a:cs typeface="Times New Roman" panose="02020603050405020304" pitchFamily="18" charset="0"/>
              </a:rPr>
              <a:t> in a unified pipeline framework.</a:t>
            </a:r>
          </a:p>
        </p:txBody>
      </p:sp>
    </p:spTree>
    <p:extLst>
      <p:ext uri="{BB962C8B-B14F-4D97-AF65-F5344CB8AC3E}">
        <p14:creationId xmlns:p14="http://schemas.microsoft.com/office/powerpoint/2010/main" val="233063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D3A393-C3AE-A646-62B7-6FB37B6160BE}"/>
              </a:ext>
            </a:extLst>
          </p:cNvPr>
          <p:cNvSpPr txBox="1"/>
          <p:nvPr/>
        </p:nvSpPr>
        <p:spPr>
          <a:xfrm>
            <a:off x="4178662" y="374861"/>
            <a:ext cx="3834675"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Problem Statement</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F24EE7-A202-0AD1-5378-FB771210F28B}"/>
              </a:ext>
            </a:extLst>
          </p:cNvPr>
          <p:cNvSpPr txBox="1"/>
          <p:nvPr/>
        </p:nvSpPr>
        <p:spPr>
          <a:xfrm>
            <a:off x="281354" y="1504910"/>
            <a:ext cx="11129107" cy="419755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Modern software development relies heavily on CI/CD pipelines to achieve faster and continuous delivery of applications.</a:t>
            </a:r>
            <a:endParaRPr lang="en-IN"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However, traditional CI/CD pipelines primarily focus on speed and automation, often neglecting integrated security practices.</a:t>
            </a:r>
            <a:endPar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absence of continuous security testing increases the risk of introducing vulnerabilities into production environments.</a:t>
            </a:r>
            <a:endParaRPr lang="en-IN"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Security tools like SAST, DAST, and SCA are often used independently, leading to </a:t>
            </a:r>
            <a:r>
              <a:rPr lang="en-IN" b="1" dirty="0">
                <a:latin typeface="Times New Roman" panose="02020603050405020304" pitchFamily="18" charset="0"/>
                <a:cs typeface="Times New Roman" panose="02020603050405020304" pitchFamily="18" charset="0"/>
              </a:rPr>
              <a:t>fragmented security processes</a:t>
            </a:r>
            <a:r>
              <a:rPr lang="en-IN" dirty="0">
                <a:latin typeface="Times New Roman" panose="02020603050405020304" pitchFamily="18" charset="0"/>
                <a:cs typeface="Times New Roman" panose="02020603050405020304" pitchFamily="18" charset="0"/>
              </a:rPr>
              <a:t> and inefficiencies. </a:t>
            </a:r>
            <a:endPar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Additionally, increasing use of third-party libraries and cloud-based deployments introduces new security risks and attack surfaces.</a:t>
            </a:r>
            <a:endPar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632581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847DE-93F8-FC33-95AE-206442B30B17}"/>
              </a:ext>
            </a:extLst>
          </p:cNvPr>
          <p:cNvSpPr txBox="1"/>
          <p:nvPr/>
        </p:nvSpPr>
        <p:spPr>
          <a:xfrm>
            <a:off x="4659084" y="799888"/>
            <a:ext cx="2873829"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Objectives</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0202DDE-D1F4-1E6D-CF46-80B4B20E1F26}"/>
              </a:ext>
            </a:extLst>
          </p:cNvPr>
          <p:cNvSpPr txBox="1"/>
          <p:nvPr/>
        </p:nvSpPr>
        <p:spPr>
          <a:xfrm>
            <a:off x="472830" y="2141135"/>
            <a:ext cx="11246338" cy="2120068"/>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design and develop an automated </a:t>
            </a:r>
            <a:r>
              <a:rPr lang="en-IN" b="1" dirty="0">
                <a:latin typeface="Times New Roman" panose="02020603050405020304" pitchFamily="18" charset="0"/>
                <a:cs typeface="Times New Roman" panose="02020603050405020304" pitchFamily="18" charset="0"/>
              </a:rPr>
              <a:t>CI/CD pipeline</a:t>
            </a:r>
            <a:r>
              <a:rPr lang="en-IN" dirty="0">
                <a:latin typeface="Times New Roman" panose="02020603050405020304" pitchFamily="18" charset="0"/>
                <a:cs typeface="Times New Roman" panose="02020603050405020304" pitchFamily="18" charset="0"/>
              </a:rPr>
              <a:t> with integrated security mechanisms.</a:t>
            </a:r>
            <a:endParaRPr lang="en-IN"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incorporate </a:t>
            </a:r>
            <a:r>
              <a:rPr lang="en-IN" b="1" dirty="0">
                <a:latin typeface="Times New Roman" panose="02020603050405020304" pitchFamily="18" charset="0"/>
                <a:cs typeface="Times New Roman" panose="02020603050405020304" pitchFamily="18" charset="0"/>
              </a:rPr>
              <a:t>SAST, DAST, and SCA</a:t>
            </a:r>
            <a:r>
              <a:rPr lang="en-IN" dirty="0">
                <a:latin typeface="Times New Roman" panose="02020603050405020304" pitchFamily="18" charset="0"/>
                <a:cs typeface="Times New Roman" panose="02020603050405020304" pitchFamily="18" charset="0"/>
              </a:rPr>
              <a:t> tools for continuous security testing at different stages of the pipeline.</a:t>
            </a:r>
            <a:endParaRPr lang="en-IN"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enable </a:t>
            </a:r>
            <a:r>
              <a:rPr lang="en-IN" b="1" dirty="0">
                <a:latin typeface="Times New Roman" panose="02020603050405020304" pitchFamily="18" charset="0"/>
                <a:cs typeface="Times New Roman" panose="02020603050405020304" pitchFamily="18" charset="0"/>
              </a:rPr>
              <a:t>early detection of vulnerabilities</a:t>
            </a:r>
            <a:r>
              <a:rPr lang="en-IN" dirty="0">
                <a:latin typeface="Times New Roman" panose="02020603050405020304" pitchFamily="18" charset="0"/>
                <a:cs typeface="Times New Roman" panose="02020603050405020304" pitchFamily="18" charset="0"/>
              </a:rPr>
              <a:t> in source code, runtime applications, and third-party dependencies.</a:t>
            </a:r>
            <a:endParaRPr lang="en-IN"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reduce </a:t>
            </a:r>
            <a:r>
              <a:rPr lang="en-IN" b="1" dirty="0">
                <a:latin typeface="Times New Roman" panose="02020603050405020304" pitchFamily="18" charset="0"/>
                <a:cs typeface="Times New Roman" panose="02020603050405020304" pitchFamily="18" charset="0"/>
              </a:rPr>
              <a:t>manual effort and human errors</a:t>
            </a:r>
            <a:r>
              <a:rPr lang="en-IN" dirty="0">
                <a:latin typeface="Times New Roman" panose="02020603050405020304" pitchFamily="18" charset="0"/>
                <a:cs typeface="Times New Roman" panose="02020603050405020304" pitchFamily="18" charset="0"/>
              </a:rPr>
              <a:t> through automation of security processes.</a:t>
            </a:r>
            <a:endParaRPr lang="en-IN"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improve </a:t>
            </a:r>
            <a:r>
              <a:rPr lang="en-IN" b="1" dirty="0">
                <a:latin typeface="Times New Roman" panose="02020603050405020304" pitchFamily="18" charset="0"/>
                <a:cs typeface="Times New Roman" panose="02020603050405020304" pitchFamily="18" charset="0"/>
              </a:rPr>
              <a:t>software quality, reliability, and deployment security</a:t>
            </a:r>
            <a:r>
              <a:rPr lang="en-IN" dirty="0">
                <a:latin typeface="Times New Roman" panose="02020603050405020304" pitchFamily="18" charset="0"/>
                <a:cs typeface="Times New Roman" panose="02020603050405020304" pitchFamily="18" charset="0"/>
              </a:rPr>
              <a:t>.</a:t>
            </a:r>
            <a:endPar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8499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DFDA6135-8C83-C5C2-93F5-67F63216851D}"/>
                  </a:ext>
                </a:extLst>
              </p:cNvPr>
              <p:cNvSpPr>
                <a:spLocks noChangeArrowheads="1"/>
              </p:cNvSpPr>
              <p:nvPr/>
            </p:nvSpPr>
            <p:spPr bwMode="auto">
              <a:xfrm>
                <a:off x="97971" y="1763448"/>
                <a:ext cx="8490858" cy="4128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proposed system follows a </a:t>
                </a:r>
                <a:r>
                  <a:rPr lang="en-IN" sz="1600" b="1" dirty="0">
                    <a:latin typeface="Times New Roman" panose="02020603050405020304" pitchFamily="18" charset="0"/>
                    <a:cs typeface="Times New Roman" panose="02020603050405020304" pitchFamily="18" charset="0"/>
                  </a:rPr>
                  <a:t>DevSecOps-based CI/CD pipeline</a:t>
                </a:r>
                <a:r>
                  <a:rPr lang="en-IN" sz="1600" dirty="0">
                    <a:latin typeface="Times New Roman" panose="02020603050405020304" pitchFamily="18" charset="0"/>
                    <a:cs typeface="Times New Roman" panose="02020603050405020304" pitchFamily="18" charset="0"/>
                  </a:rPr>
                  <a:t> integrating SAST, DAST,    and SCA for continuous security validation</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Code commit triggers automated pipeline</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Perform dependency scanning (SCA)</a:t>
                </a:r>
              </a:p>
              <a:p>
                <a:pPr marL="285750" lvl="0" indent="-285750" algn="just">
                  <a:lnSpc>
                    <a:spcPct val="15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Vulnerability Detection Rate (</a:t>
                </a:r>
                <a14:m>
                  <m:oMath xmlns:m="http://schemas.openxmlformats.org/officeDocument/2006/math">
                    <m:r>
                      <a:rPr lang="en-IN" i="1">
                        <a:latin typeface="Cambria Math" panose="02040503050406030204" pitchFamily="18" charset="0"/>
                      </a:rPr>
                      <m:t>𝑉𝐷𝑅</m:t>
                    </m:r>
                    <m:r>
                      <a:rPr lang="en-US" b="0" i="1" smtClean="0">
                        <a:latin typeface="Cambria Math" panose="02040503050406030204" pitchFamily="18" charset="0"/>
                      </a:rPr>
                      <m:t>)</m:t>
                    </m:r>
                    <m:r>
                      <a:rPr lang="en-IN">
                        <a:latin typeface="Cambria Math" panose="02040503050406030204" pitchFamily="18" charset="0"/>
                      </a:rPr>
                      <m:t>=</m:t>
                    </m:r>
                    <m:f>
                      <m:fPr>
                        <m:ctrlPr>
                          <a:rPr lang="en-IN" i="0">
                            <a:latin typeface="Times New Roman" panose="02020603050405020304" pitchFamily="18" charset="0"/>
                            <a:cs typeface="Times New Roman" panose="02020603050405020304" pitchFamily="18" charset="0"/>
                          </a:rPr>
                        </m:ctrlPr>
                      </m:fPr>
                      <m:num>
                        <m:r>
                          <m:rPr>
                            <m:nor/>
                          </m:rPr>
                          <a:rPr lang="en-IN" i="0">
                            <a:latin typeface="Times New Roman" panose="02020603050405020304" pitchFamily="18" charset="0"/>
                            <a:cs typeface="Times New Roman" panose="02020603050405020304" pitchFamily="18" charset="0"/>
                          </a:rPr>
                          <m:t>Number of Vulnerabilities Detected</m:t>
                        </m:r>
                      </m:num>
                      <m:den>
                        <m:r>
                          <m:rPr>
                            <m:nor/>
                          </m:rPr>
                          <a:rPr lang="en-IN" i="0">
                            <a:latin typeface="Times New Roman" panose="02020603050405020304" pitchFamily="18" charset="0"/>
                            <a:cs typeface="Times New Roman" panose="02020603050405020304" pitchFamily="18" charset="0"/>
                          </a:rPr>
                          <m:t>Total Vulnerabilities Present</m:t>
                        </m:r>
                      </m:den>
                    </m:f>
                    <m:r>
                      <a:rPr lang="en-IN">
                        <a:latin typeface="Cambria Math" panose="02040503050406030204" pitchFamily="18" charset="0"/>
                      </a:rPr>
                      <m:t>×100</m:t>
                    </m:r>
                  </m:oMath>
                </a14:m>
                <a:endParaRPr kumimoji="0" lang="en-US" altLang="en-US" sz="1600" b="0" i="0" u="none" strike="noStrike" cap="none" normalizeH="0" baseline="0" dirty="0">
                  <a:ln>
                    <a:noFill/>
                  </a:ln>
                  <a:solidFill>
                    <a:schemeClr val="tx1">
                      <a:lumMod val="85000"/>
                      <a:lumOff val="15000"/>
                    </a:schemeClr>
                  </a:solidFill>
                  <a:effectLst/>
                  <a:latin typeface="Times New Roman" panose="02020603050405020304" pitchFamily="18" charset="0"/>
                  <a:ea typeface="Cambria" panose="02040503050406030204" pitchFamily="18" charset="0"/>
                  <a:cs typeface="Times New Roman" panose="02020603050405020304" pitchFamily="18" charset="0"/>
                </a:endParaRPr>
              </a:p>
              <a:p>
                <a:pPr marL="285750" lvl="0" indent="-285750" algn="just">
                  <a:lnSpc>
                    <a:spcPct val="15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False Positive Rate (</a:t>
                </a:r>
                <a14:m>
                  <m:oMath xmlns:m="http://schemas.openxmlformats.org/officeDocument/2006/math">
                    <m:r>
                      <a:rPr lang="en-IN" i="1" smtClean="0">
                        <a:latin typeface="Cambria Math" panose="02040503050406030204" pitchFamily="18" charset="0"/>
                      </a:rPr>
                      <m:t>𝐹𝑃𝑅</m:t>
                    </m:r>
                    <m:r>
                      <a:rPr lang="en-US" b="0" i="1" smtClean="0">
                        <a:latin typeface="Cambria Math" panose="02040503050406030204" pitchFamily="18" charset="0"/>
                      </a:rPr>
                      <m:t>)</m:t>
                    </m:r>
                    <m:r>
                      <a:rPr lang="en-IN">
                        <a:latin typeface="Cambria Math" panose="02040503050406030204" pitchFamily="18" charset="0"/>
                      </a:rPr>
                      <m:t>=</m:t>
                    </m:r>
                    <m:f>
                      <m:fPr>
                        <m:ctrlPr>
                          <a:rPr lang="en-IN" i="0">
                            <a:latin typeface="Times New Roman" panose="02020603050405020304" pitchFamily="18" charset="0"/>
                            <a:cs typeface="Times New Roman" panose="02020603050405020304" pitchFamily="18" charset="0"/>
                          </a:rPr>
                        </m:ctrlPr>
                      </m:fPr>
                      <m:num>
                        <m:r>
                          <m:rPr>
                            <m:nor/>
                          </m:rPr>
                          <a:rPr lang="en-IN" i="0">
                            <a:latin typeface="Times New Roman" panose="02020603050405020304" pitchFamily="18" charset="0"/>
                            <a:cs typeface="Times New Roman" panose="02020603050405020304" pitchFamily="18" charset="0"/>
                          </a:rPr>
                          <m:t>False Positives</m:t>
                        </m:r>
                      </m:num>
                      <m:den>
                        <m:r>
                          <m:rPr>
                            <m:nor/>
                          </m:rPr>
                          <a:rPr lang="en-IN" i="0">
                            <a:latin typeface="Times New Roman" panose="02020603050405020304" pitchFamily="18" charset="0"/>
                            <a:cs typeface="Times New Roman" panose="02020603050405020304" pitchFamily="18" charset="0"/>
                          </a:rPr>
                          <m:t>Total Detected Issues</m:t>
                        </m:r>
                      </m:den>
                    </m:f>
                    <m:r>
                      <a:rPr lang="en-IN">
                        <a:latin typeface="Cambria Math" panose="02040503050406030204" pitchFamily="18" charset="0"/>
                      </a:rPr>
                      <m:t>×100</m:t>
                    </m:r>
                  </m:oMath>
                </a14:m>
                <a:endParaRPr lang="en-IN" sz="1600" b="0" dirty="0">
                  <a:latin typeface="Times New Roman" panose="02020603050405020304" pitchFamily="18" charset="0"/>
                  <a:cs typeface="Times New Roman" panose="02020603050405020304" pitchFamily="18" charset="0"/>
                </a:endParaRPr>
              </a:p>
              <a:p>
                <a:pPr marL="285750" lvl="0" indent="-285750" algn="just">
                  <a:lnSpc>
                    <a:spcPct val="15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Mean Time to Resolve </a:t>
                </a:r>
                <a14:m>
                  <m:oMath xmlns:m="http://schemas.openxmlformats.org/officeDocument/2006/math">
                    <m:r>
                      <a:rPr lang="en-US" b="1" i="0" smtClean="0">
                        <a:latin typeface="Cambria Math" panose="02040503050406030204" pitchFamily="18" charset="0"/>
                      </a:rPr>
                      <m:t>(</m:t>
                    </m:r>
                    <m:r>
                      <a:rPr lang="en-IN" i="1">
                        <a:latin typeface="Cambria Math" panose="02040503050406030204" pitchFamily="18" charset="0"/>
                      </a:rPr>
                      <m:t>𝑀𝑇𝑇𝑅</m:t>
                    </m:r>
                    <m:r>
                      <a:rPr lang="en-US" b="0" i="1" smtClean="0">
                        <a:latin typeface="Cambria Math" panose="02040503050406030204" pitchFamily="18" charset="0"/>
                      </a:rPr>
                      <m:t>)</m:t>
                    </m:r>
                    <m:r>
                      <a:rPr lang="en-IN">
                        <a:latin typeface="Cambria Math" panose="02040503050406030204" pitchFamily="18" charset="0"/>
                      </a:rPr>
                      <m:t>=</m:t>
                    </m:r>
                    <m:f>
                      <m:fPr>
                        <m:ctrlPr>
                          <a:rPr lang="en-IN" i="1">
                            <a:latin typeface="Cambria Math" panose="02040503050406030204" pitchFamily="18" charset="0"/>
                          </a:rPr>
                        </m:ctrlPr>
                      </m:fPr>
                      <m:num>
                        <m:nary>
                          <m:naryPr>
                            <m:chr m:val="∑"/>
                            <m:grow m:val="on"/>
                            <m:subHide m:val="on"/>
                            <m:supHide m:val="on"/>
                            <m:ctrlPr>
                              <a:rPr lang="en-IN" i="1">
                                <a:latin typeface="Cambria Math" panose="02040503050406030204" pitchFamily="18" charset="0"/>
                              </a:rPr>
                            </m:ctrlPr>
                          </m:naryPr>
                          <m:sub/>
                          <m:sup/>
                          <m:e>
                            <m:r>
                              <m:rPr>
                                <m:nor/>
                              </m:rPr>
                              <a:rPr lang="en-IN" i="0">
                                <a:latin typeface="Times New Roman" panose="02020603050405020304" pitchFamily="18" charset="0"/>
                                <a:cs typeface="Times New Roman" panose="02020603050405020304" pitchFamily="18" charset="0"/>
                              </a:rPr>
                              <m:t>Resolution Time</m:t>
                            </m:r>
                          </m:e>
                        </m:nary>
                      </m:num>
                      <m:den>
                        <m:r>
                          <m:rPr>
                            <m:nor/>
                          </m:rPr>
                          <a:rPr lang="en-IN" i="0">
                            <a:latin typeface="Times New Roman" panose="02020603050405020304" pitchFamily="18" charset="0"/>
                            <a:cs typeface="Times New Roman" panose="02020603050405020304" pitchFamily="18" charset="0"/>
                          </a:rPr>
                          <m:t>Number of Issues</m:t>
                        </m:r>
                      </m:den>
                    </m:f>
                  </m:oMath>
                </a14:m>
                <a:endParaRPr lang="en-IN" sz="1600" b="0"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pitchFamily="2" charset="2"/>
                  <a:buChar char="Ø"/>
                </a:pPr>
                <a:endParaRPr kumimoji="0" lang="en-US" altLang="en-US" sz="1600" b="0" i="0" u="none" strike="noStrike" cap="none" normalizeH="0" baseline="0" dirty="0">
                  <a:ln>
                    <a:noFill/>
                  </a:ln>
                  <a:solidFill>
                    <a:schemeClr val="tx1">
                      <a:lumMod val="85000"/>
                      <a:lumOff val="15000"/>
                    </a:schemeClr>
                  </a:solidFill>
                  <a:effectLst/>
                  <a:latin typeface="Times New Roman" panose="02020603050405020304" pitchFamily="18" charset="0"/>
                  <a:ea typeface="Cambria" panose="02040503050406030204" pitchFamily="18" charset="0"/>
                  <a:cs typeface="Times New Roman" panose="02020603050405020304" pitchFamily="18" charset="0"/>
                </a:endParaRPr>
              </a:p>
            </p:txBody>
          </p:sp>
        </mc:Choice>
        <mc:Fallback xmlns="">
          <p:sp>
            <p:nvSpPr>
              <p:cNvPr id="4" name="Rectangle 1">
                <a:extLst>
                  <a:ext uri="{FF2B5EF4-FFF2-40B4-BE49-F238E27FC236}">
                    <a16:creationId xmlns:a16="http://schemas.microsoft.com/office/drawing/2014/main" id="{DFDA6135-8C83-C5C2-93F5-67F63216851D}"/>
                  </a:ext>
                </a:extLst>
              </p:cNvPr>
              <p:cNvSpPr>
                <a:spLocks noRot="1" noChangeAspect="1" noMove="1" noResize="1" noEditPoints="1" noAdjustHandles="1" noChangeArrowheads="1" noChangeShapeType="1" noTextEdit="1"/>
              </p:cNvSpPr>
              <p:nvPr/>
            </p:nvSpPr>
            <p:spPr bwMode="auto">
              <a:xfrm>
                <a:off x="97971" y="1763448"/>
                <a:ext cx="8490858" cy="4128887"/>
              </a:xfrm>
              <a:prstGeom prst="rect">
                <a:avLst/>
              </a:prstGeom>
              <a:blipFill>
                <a:blip r:embed="rId2"/>
                <a:stretch>
                  <a:fillRect l="-287" r="-43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
        <p:nvSpPr>
          <p:cNvPr id="7" name="TextBox 6">
            <a:extLst>
              <a:ext uri="{FF2B5EF4-FFF2-40B4-BE49-F238E27FC236}">
                <a16:creationId xmlns:a16="http://schemas.microsoft.com/office/drawing/2014/main" id="{C214E9F1-0E23-0E99-BEA8-BF66FF271068}"/>
              </a:ext>
            </a:extLst>
          </p:cNvPr>
          <p:cNvSpPr txBox="1"/>
          <p:nvPr/>
        </p:nvSpPr>
        <p:spPr>
          <a:xfrm>
            <a:off x="2465614" y="673277"/>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718C40A1-8CF6-6739-8C0E-098041EA2F00}"/>
              </a:ext>
            </a:extLst>
          </p:cNvPr>
          <p:cNvPicPr>
            <a:picLocks noChangeAspect="1"/>
          </p:cNvPicPr>
          <p:nvPr/>
        </p:nvPicPr>
        <p:blipFill>
          <a:blip r:embed="rId3"/>
          <a:stretch>
            <a:fillRect/>
          </a:stretch>
        </p:blipFill>
        <p:spPr>
          <a:xfrm>
            <a:off x="7902068" y="152400"/>
            <a:ext cx="4289932" cy="6434898"/>
          </a:xfrm>
          <a:prstGeom prst="rect">
            <a:avLst/>
          </a:prstGeom>
        </p:spPr>
      </p:pic>
    </p:spTree>
    <p:extLst>
      <p:ext uri="{BB962C8B-B14F-4D97-AF65-F5344CB8AC3E}">
        <p14:creationId xmlns:p14="http://schemas.microsoft.com/office/powerpoint/2010/main" val="4199753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986A8-9E05-9115-25B8-C8A163D1DEDC}"/>
              </a:ext>
            </a:extLst>
          </p:cNvPr>
          <p:cNvSpPr>
            <a:spLocks noGrp="1"/>
          </p:cNvSpPr>
          <p:nvPr>
            <p:ph type="title"/>
          </p:nvPr>
        </p:nvSpPr>
        <p:spPr>
          <a:xfrm>
            <a:off x="1050021" y="974425"/>
            <a:ext cx="8887691" cy="665653"/>
          </a:xfrm>
        </p:spPr>
        <p:txBody>
          <a:bodyPr>
            <a:normAutofit/>
          </a:bodyPr>
          <a:lstStyle/>
          <a:p>
            <a:r>
              <a:rPr lang="en-IN" sz="3000" dirty="0">
                <a:solidFill>
                  <a:schemeClr val="accent1">
                    <a:lumMod val="50000"/>
                  </a:schemeClr>
                </a:solidFill>
                <a:latin typeface="Times New Roman" panose="02020603050405020304" pitchFamily="18" charset="0"/>
                <a:cs typeface="Times New Roman" panose="02020603050405020304" pitchFamily="18" charset="0"/>
              </a:rPr>
              <a:t>Module 1: Static Application Security Testing (SAST)</a:t>
            </a:r>
          </a:p>
        </p:txBody>
      </p:sp>
      <p:sp>
        <p:nvSpPr>
          <p:cNvPr id="3" name="Content Placeholder 2">
            <a:extLst>
              <a:ext uri="{FF2B5EF4-FFF2-40B4-BE49-F238E27FC236}">
                <a16:creationId xmlns:a16="http://schemas.microsoft.com/office/drawing/2014/main" id="{4B2B94A3-89C7-93A2-B28F-D141920C3084}"/>
              </a:ext>
            </a:extLst>
          </p:cNvPr>
          <p:cNvSpPr>
            <a:spLocks noGrp="1"/>
          </p:cNvSpPr>
          <p:nvPr>
            <p:ph idx="1"/>
          </p:nvPr>
        </p:nvSpPr>
        <p:spPr>
          <a:xfrm>
            <a:off x="170027" y="2187938"/>
            <a:ext cx="7817504" cy="3574473"/>
          </a:xfrm>
        </p:spPr>
        <p:txBody>
          <a:bodyPr>
            <a:normAutofit/>
          </a:bodyPr>
          <a:lstStyle/>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Analyzes source code at an early stage of the </a:t>
            </a:r>
            <a:r>
              <a:rPr lang="en-IN" sz="1800">
                <a:latin typeface="Times New Roman" panose="02020603050405020304" pitchFamily="18" charset="0"/>
                <a:cs typeface="Times New Roman" panose="02020603050405020304" pitchFamily="18" charset="0"/>
              </a:rPr>
              <a:t>development lifecycle. </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Performs static analysis without executing </a:t>
            </a:r>
            <a:r>
              <a:rPr lang="en-IN" sz="1800">
                <a:latin typeface="Times New Roman" panose="02020603050405020304" pitchFamily="18" charset="0"/>
                <a:cs typeface="Times New Roman" panose="02020603050405020304" pitchFamily="18" charset="0"/>
              </a:rPr>
              <a:t>the application. </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Identifies coding vulnerabilities such as insecure functions and </a:t>
            </a:r>
            <a:r>
              <a:rPr lang="en-IN" sz="1800">
                <a:latin typeface="Times New Roman" panose="02020603050405020304" pitchFamily="18" charset="0"/>
                <a:cs typeface="Times New Roman" panose="02020603050405020304" pitchFamily="18" charset="0"/>
              </a:rPr>
              <a:t>logic flaws. </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Detects issues like SQL injection, cross-site scripting (XSS), and </a:t>
            </a:r>
            <a:r>
              <a:rPr lang="en-IN" sz="1800">
                <a:latin typeface="Times New Roman" panose="02020603050405020304" pitchFamily="18" charset="0"/>
                <a:cs typeface="Times New Roman" panose="02020603050405020304" pitchFamily="18" charset="0"/>
              </a:rPr>
              <a:t>buffer overflows. </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Helps developers fix security issues before build </a:t>
            </a:r>
            <a:r>
              <a:rPr lang="en-IN" sz="1800">
                <a:latin typeface="Times New Roman" panose="02020603050405020304" pitchFamily="18" charset="0"/>
                <a:cs typeface="Times New Roman" panose="02020603050405020304" pitchFamily="18" charset="0"/>
              </a:rPr>
              <a:t>and deployment.</a:t>
            </a:r>
            <a:endParaRPr lang="en-IN"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C14EF11-1612-BF04-E486-05E575B88E3A}"/>
              </a:ext>
            </a:extLst>
          </p:cNvPr>
          <p:cNvPicPr>
            <a:picLocks noChangeAspect="1"/>
          </p:cNvPicPr>
          <p:nvPr/>
        </p:nvPicPr>
        <p:blipFill>
          <a:blip r:embed="rId2"/>
          <a:stretch>
            <a:fillRect/>
          </a:stretch>
        </p:blipFill>
        <p:spPr>
          <a:xfrm>
            <a:off x="8113222" y="2187938"/>
            <a:ext cx="4078778" cy="3078327"/>
          </a:xfrm>
          <a:prstGeom prst="rect">
            <a:avLst/>
          </a:prstGeom>
        </p:spPr>
      </p:pic>
    </p:spTree>
    <p:extLst>
      <p:ext uri="{BB962C8B-B14F-4D97-AF65-F5344CB8AC3E}">
        <p14:creationId xmlns:p14="http://schemas.microsoft.com/office/powerpoint/2010/main" val="1795101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42283-8070-8607-D02B-8F27819E1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CB076-84AC-A385-0AFA-611847C67394}"/>
              </a:ext>
            </a:extLst>
          </p:cNvPr>
          <p:cNvSpPr>
            <a:spLocks noGrp="1"/>
          </p:cNvSpPr>
          <p:nvPr>
            <p:ph type="title"/>
          </p:nvPr>
        </p:nvSpPr>
        <p:spPr>
          <a:xfrm>
            <a:off x="1007225" y="976110"/>
            <a:ext cx="8887691" cy="665653"/>
          </a:xfrm>
        </p:spPr>
        <p:txBody>
          <a:bodyPr>
            <a:normAutofit/>
          </a:bodyPr>
          <a:lstStyle/>
          <a:p>
            <a:r>
              <a:rPr lang="en-IN" sz="3200" dirty="0">
                <a:solidFill>
                  <a:schemeClr val="accent1">
                    <a:lumMod val="50000"/>
                  </a:schemeClr>
                </a:solidFill>
                <a:latin typeface="Times New Roman" panose="02020603050405020304" pitchFamily="18" charset="0"/>
                <a:cs typeface="Times New Roman" panose="02020603050405020304" pitchFamily="18" charset="0"/>
              </a:rPr>
              <a:t>Module 2: Software Composition Analysis (SCA)</a:t>
            </a:r>
            <a:endParaRPr lang="en-IN"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2A0784-9176-9D7F-AD02-BCEACEE8524F}"/>
              </a:ext>
            </a:extLst>
          </p:cNvPr>
          <p:cNvSpPr>
            <a:spLocks noGrp="1"/>
          </p:cNvSpPr>
          <p:nvPr>
            <p:ph idx="1"/>
          </p:nvPr>
        </p:nvSpPr>
        <p:spPr>
          <a:xfrm>
            <a:off x="372687" y="2161309"/>
            <a:ext cx="7225146" cy="3574473"/>
          </a:xfrm>
        </p:spPr>
        <p:txBody>
          <a:bodyPr>
            <a:normAutofit/>
          </a:bodyPr>
          <a:lstStyle/>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Identifies third-party libraries and open-source components used in the application </a:t>
            </a: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Detects known vulnerabilities in dependencies (e.g., outdated or insecure packages) </a:t>
            </a: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Monitors license compliance to avoid legal and usage issues </a:t>
            </a: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Provides real-time alerts for newly discovered vulnerabilities </a:t>
            </a: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Helps maintain an up-to-date and secure dependency ecosystem</a:t>
            </a:r>
          </a:p>
        </p:txBody>
      </p:sp>
      <p:pic>
        <p:nvPicPr>
          <p:cNvPr id="6" name="Picture 5">
            <a:extLst>
              <a:ext uri="{FF2B5EF4-FFF2-40B4-BE49-F238E27FC236}">
                <a16:creationId xmlns:a16="http://schemas.microsoft.com/office/drawing/2014/main" id="{93E60B3E-9F3A-8194-AE36-1FA553A4CD9B}"/>
              </a:ext>
            </a:extLst>
          </p:cNvPr>
          <p:cNvPicPr>
            <a:picLocks noChangeAspect="1"/>
          </p:cNvPicPr>
          <p:nvPr/>
        </p:nvPicPr>
        <p:blipFill>
          <a:blip r:embed="rId2"/>
          <a:stretch>
            <a:fillRect/>
          </a:stretch>
        </p:blipFill>
        <p:spPr>
          <a:xfrm>
            <a:off x="7840133" y="2417156"/>
            <a:ext cx="4351866" cy="3062778"/>
          </a:xfrm>
          <a:prstGeom prst="rect">
            <a:avLst/>
          </a:prstGeom>
        </p:spPr>
      </p:pic>
    </p:spTree>
    <p:extLst>
      <p:ext uri="{BB962C8B-B14F-4D97-AF65-F5344CB8AC3E}">
        <p14:creationId xmlns:p14="http://schemas.microsoft.com/office/powerpoint/2010/main" val="1818077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F36E1-8F66-7FEC-3C14-A7A817D58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4CAA2-D986-00F1-3DC0-A7ABBF2936E7}"/>
              </a:ext>
            </a:extLst>
          </p:cNvPr>
          <p:cNvSpPr>
            <a:spLocks noGrp="1"/>
          </p:cNvSpPr>
          <p:nvPr>
            <p:ph type="title"/>
          </p:nvPr>
        </p:nvSpPr>
        <p:spPr>
          <a:xfrm>
            <a:off x="1210887" y="976110"/>
            <a:ext cx="8887691" cy="665653"/>
          </a:xfrm>
        </p:spPr>
        <p:txBody>
          <a:bodyPr>
            <a:normAutofit/>
          </a:bodyPr>
          <a:lstStyle/>
          <a:p>
            <a:r>
              <a:rPr lang="en-IN" sz="3200" dirty="0">
                <a:solidFill>
                  <a:schemeClr val="accent1">
                    <a:lumMod val="50000"/>
                  </a:schemeClr>
                </a:solidFill>
                <a:latin typeface="Times New Roman" panose="02020603050405020304" pitchFamily="18" charset="0"/>
                <a:cs typeface="Times New Roman" panose="02020603050405020304" pitchFamily="18" charset="0"/>
              </a:rPr>
              <a:t>Module 3: DAST and Security Gate</a:t>
            </a:r>
            <a:endParaRPr lang="en-IN" sz="3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C7341F-5915-BBF3-053A-36B9E96F6588}"/>
              </a:ext>
            </a:extLst>
          </p:cNvPr>
          <p:cNvSpPr>
            <a:spLocks noGrp="1"/>
          </p:cNvSpPr>
          <p:nvPr>
            <p:ph idx="1"/>
          </p:nvPr>
        </p:nvSpPr>
        <p:spPr>
          <a:xfrm>
            <a:off x="381154" y="2078566"/>
            <a:ext cx="7196513" cy="3574473"/>
          </a:xfrm>
        </p:spPr>
        <p:txBody>
          <a:bodyPr>
            <a:normAutofit/>
          </a:bodyPr>
          <a:lstStyle/>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Performs Dynamic Application Security Testing (DAST) on the running application </a:t>
            </a: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Detects runtime vulnerabilities such as SQL injection, XSS, and authentication issues </a:t>
            </a: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Simulates real-world attacks to identify security weaknesses </a:t>
            </a: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Analyzes APIs, user inputs, and server responses </a:t>
            </a:r>
          </a:p>
          <a:p>
            <a:pPr lvl="0"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Works in the testing/deployment phase of the CI/CD pipeline</a:t>
            </a:r>
          </a:p>
        </p:txBody>
      </p:sp>
      <p:pic>
        <p:nvPicPr>
          <p:cNvPr id="5" name="Picture 4">
            <a:extLst>
              <a:ext uri="{FF2B5EF4-FFF2-40B4-BE49-F238E27FC236}">
                <a16:creationId xmlns:a16="http://schemas.microsoft.com/office/drawing/2014/main" id="{9B7036A6-784F-EE7F-6524-DF75C352DB14}"/>
              </a:ext>
            </a:extLst>
          </p:cNvPr>
          <p:cNvPicPr>
            <a:picLocks noChangeAspect="1"/>
          </p:cNvPicPr>
          <p:nvPr/>
        </p:nvPicPr>
        <p:blipFill>
          <a:blip r:embed="rId2"/>
          <a:stretch>
            <a:fillRect/>
          </a:stretch>
        </p:blipFill>
        <p:spPr>
          <a:xfrm>
            <a:off x="7789332" y="2078566"/>
            <a:ext cx="4402667" cy="3574473"/>
          </a:xfrm>
          <a:prstGeom prst="rect">
            <a:avLst/>
          </a:prstGeom>
        </p:spPr>
      </p:pic>
    </p:spTree>
    <p:extLst>
      <p:ext uri="{BB962C8B-B14F-4D97-AF65-F5344CB8AC3E}">
        <p14:creationId xmlns:p14="http://schemas.microsoft.com/office/powerpoint/2010/main" val="3723968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0819BD9-72F4-9FB7-BCB9-63F826843D84}"/>
              </a:ext>
            </a:extLst>
          </p:cNvPr>
          <p:cNvGraphicFramePr>
            <a:graphicFrameLocks noGrp="1"/>
          </p:cNvGraphicFramePr>
          <p:nvPr>
            <p:extLst>
              <p:ext uri="{D42A27DB-BD31-4B8C-83A1-F6EECF244321}">
                <p14:modId xmlns:p14="http://schemas.microsoft.com/office/powerpoint/2010/main" val="901003181"/>
              </p:ext>
            </p:extLst>
          </p:nvPr>
        </p:nvGraphicFramePr>
        <p:xfrm>
          <a:off x="544007" y="3688862"/>
          <a:ext cx="6091254" cy="2858727"/>
        </p:xfrm>
        <a:graphic>
          <a:graphicData uri="http://schemas.openxmlformats.org/drawingml/2006/table">
            <a:tbl>
              <a:tblPr firstRow="1" firstCol="1" bandRow="1"/>
              <a:tblGrid>
                <a:gridCol w="1398270">
                  <a:extLst>
                    <a:ext uri="{9D8B030D-6E8A-4147-A177-3AD203B41FA5}">
                      <a16:colId xmlns:a16="http://schemas.microsoft.com/office/drawing/2014/main" val="1455225318"/>
                    </a:ext>
                  </a:extLst>
                </a:gridCol>
                <a:gridCol w="1638902">
                  <a:extLst>
                    <a:ext uri="{9D8B030D-6E8A-4147-A177-3AD203B41FA5}">
                      <a16:colId xmlns:a16="http://schemas.microsoft.com/office/drawing/2014/main" val="3247636162"/>
                    </a:ext>
                  </a:extLst>
                </a:gridCol>
                <a:gridCol w="3054082">
                  <a:extLst>
                    <a:ext uri="{9D8B030D-6E8A-4147-A177-3AD203B41FA5}">
                      <a16:colId xmlns:a16="http://schemas.microsoft.com/office/drawing/2014/main" val="2693985429"/>
                    </a:ext>
                  </a:extLst>
                </a:gridCol>
              </a:tblGrid>
              <a:tr h="364279">
                <a:tc>
                  <a:txBody>
                    <a:bodyPr/>
                    <a:lstStyle/>
                    <a:p>
                      <a:pPr marL="0" marR="0" algn="l">
                        <a:buNone/>
                      </a:pPr>
                      <a:r>
                        <a:rPr lang="en-US" sz="1400" b="1" kern="100">
                          <a:effectLst/>
                          <a:latin typeface="Cambria" panose="02040503050406030204" pitchFamily="18" charset="0"/>
                          <a:ea typeface="Cambria" panose="02040503050406030204" pitchFamily="18" charset="0"/>
                          <a:cs typeface="Latha" panose="020B0604020202020204" pitchFamily="34" charset="0"/>
                        </a:rPr>
                        <a:t>Astrology </a:t>
                      </a:r>
                      <a:endParaRPr lang="en-IN" sz="1400" b="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b="1" kern="100">
                          <a:effectLst/>
                          <a:latin typeface="Cambria" panose="02040503050406030204" pitchFamily="18" charset="0"/>
                          <a:ea typeface="Cambria" panose="02040503050406030204" pitchFamily="18" charset="0"/>
                          <a:cs typeface="Latha" panose="020B0604020202020204" pitchFamily="34" charset="0"/>
                        </a:rPr>
                        <a:t>Astronomy</a:t>
                      </a:r>
                      <a:endParaRPr lang="en-IN" sz="1400" b="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b="1" kern="100">
                          <a:effectLst/>
                          <a:latin typeface="Cambria" panose="02040503050406030204" pitchFamily="18" charset="0"/>
                          <a:ea typeface="Cambria" panose="02040503050406030204" pitchFamily="18" charset="0"/>
                          <a:cs typeface="Latha" panose="020B0604020202020204" pitchFamily="34" charset="0"/>
                        </a:rPr>
                        <a:t>Equivalent Factors</a:t>
                      </a:r>
                      <a:endParaRPr lang="en-IN" sz="1400" b="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7175616"/>
                  </a:ext>
                </a:extLst>
              </a:tr>
              <a:tr h="676097">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Signs (Zodiac)</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Constellations / Celestial Coordinates</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IN" sz="1400" dirty="0"/>
                        <a:t>Code Modules / Components in Repository</a:t>
                      </a:r>
                      <a:endParaRPr lang="en-IN" sz="1400" kern="100" dirty="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7450869"/>
                  </a:ext>
                </a:extLst>
              </a:tr>
              <a:tr h="240792">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Planets</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dirty="0">
                          <a:effectLst/>
                          <a:latin typeface="Cambria" panose="02040503050406030204" pitchFamily="18" charset="0"/>
                          <a:ea typeface="Cambria" panose="02040503050406030204" pitchFamily="18" charset="0"/>
                          <a:cs typeface="Latha" panose="020B0604020202020204" pitchFamily="34" charset="0"/>
                        </a:rPr>
                        <a:t>Celestial Bodies</a:t>
                      </a:r>
                      <a:endParaRPr lang="en-IN" sz="1400" kern="100" dirty="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IN" sz="1400" dirty="0"/>
                        <a:t>Application Services / Microservices</a:t>
                      </a:r>
                      <a:endParaRPr lang="en-IN" sz="1400" kern="100" dirty="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8721022"/>
                  </a:ext>
                </a:extLst>
              </a:tr>
              <a:tr h="450731">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Houses</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Orbital Paths / Ecliptic Plane</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400" dirty="0"/>
                        <a:t>Pipeline Stages(Build,Test,Deploy)</a:t>
                      </a:r>
                      <a:endParaRPr lang="en-IN" sz="14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3169168"/>
                  </a:ext>
                </a:extLst>
              </a:tr>
              <a:tr h="676097">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Planet Conjunctions</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Orbital Alignments</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dirty="0"/>
                        <a:t>Integration Of SAST,DAST,SCA tools</a:t>
                      </a:r>
                      <a:endParaRPr lang="en-IN"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0796662"/>
                  </a:ext>
                </a:extLst>
              </a:tr>
              <a:tr h="450731">
                <a:tc>
                  <a:txBody>
                    <a:bodyPr/>
                    <a:lstStyle/>
                    <a:p>
                      <a:pPr marL="0" marR="0" algn="just">
                        <a:buNone/>
                      </a:pPr>
                      <a:r>
                        <a:rPr lang="en-US" sz="1400" b="1" i="1" kern="100">
                          <a:effectLst/>
                          <a:latin typeface="Cambria" panose="02040503050406030204" pitchFamily="18" charset="0"/>
                          <a:ea typeface="Cambria" panose="02040503050406030204" pitchFamily="18" charset="0"/>
                          <a:cs typeface="Latha" panose="020B0604020202020204" pitchFamily="34" charset="0"/>
                        </a:rPr>
                        <a:t>Dasha System</a:t>
                      </a:r>
                      <a:endParaRPr lang="en-IN" sz="1400" b="1" i="1"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a:effectLst/>
                          <a:latin typeface="Cambria" panose="02040503050406030204" pitchFamily="18" charset="0"/>
                          <a:ea typeface="Cambria" panose="02040503050406030204" pitchFamily="18" charset="0"/>
                          <a:cs typeface="Latha" panose="020B0604020202020204" pitchFamily="34" charset="0"/>
                        </a:rPr>
                        <a:t>Orbital Periods</a:t>
                      </a:r>
                      <a:endParaRPr lang="en-IN" sz="1400" kern="10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IN" sz="1400" dirty="0"/>
                        <a:t>CI/CD Cycles (Build Frequency, Release Cycles)</a:t>
                      </a:r>
                      <a:endParaRPr lang="en-IN" sz="1400" kern="100" dirty="0">
                        <a:effectLst/>
                        <a:latin typeface="Cambria" panose="02040503050406030204" pitchFamily="18" charset="0"/>
                        <a:ea typeface="Cambria" panose="02040503050406030204" pitchFamily="18" charset="0"/>
                        <a:cs typeface="Latha"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869158"/>
                  </a:ext>
                </a:extLst>
              </a:tr>
            </a:tbl>
          </a:graphicData>
        </a:graphic>
      </p:graphicFrame>
      <p:sp>
        <p:nvSpPr>
          <p:cNvPr id="8" name="TextBox 7">
            <a:extLst>
              <a:ext uri="{FF2B5EF4-FFF2-40B4-BE49-F238E27FC236}">
                <a16:creationId xmlns:a16="http://schemas.microsoft.com/office/drawing/2014/main" id="{0E206456-3B16-7EF0-E6A9-C95F294247B6}"/>
              </a:ext>
            </a:extLst>
          </p:cNvPr>
          <p:cNvSpPr txBox="1"/>
          <p:nvPr/>
        </p:nvSpPr>
        <p:spPr>
          <a:xfrm>
            <a:off x="272561" y="3087368"/>
            <a:ext cx="6629400" cy="341632"/>
          </a:xfrm>
          <a:prstGeom prst="rect">
            <a:avLst/>
          </a:prstGeom>
          <a:noFill/>
        </p:spPr>
        <p:txBody>
          <a:bodyPr wrap="square">
            <a:spAutoFit/>
          </a:bodyPr>
          <a:lstStyle/>
          <a:p>
            <a:pPr marR="0" lvl="0" algn="ctr">
              <a:lnSpc>
                <a:spcPct val="90000"/>
              </a:lnSpc>
              <a:spcBef>
                <a:spcPts val="1200"/>
              </a:spcBef>
              <a:spcAft>
                <a:spcPts val="600"/>
              </a:spcAft>
              <a:buSzPts val="800"/>
              <a:tabLst>
                <a:tab pos="685800" algn="l"/>
              </a:tabLst>
            </a:pPr>
            <a:r>
              <a:rPr lang="en-US" b="1" dirty="0">
                <a:solidFill>
                  <a:schemeClr val="accent5">
                    <a:lumMod val="50000"/>
                  </a:schemeClr>
                </a:solidFill>
                <a:effectLst/>
                <a:latin typeface="Cambria" panose="02040503050406030204" pitchFamily="18" charset="0"/>
                <a:ea typeface="Cambria" panose="02040503050406030204" pitchFamily="18" charset="0"/>
              </a:rPr>
              <a:t>Common themes found in both Astrology and Astronomy</a:t>
            </a:r>
            <a:endParaRPr lang="en-IN" b="1" dirty="0">
              <a:solidFill>
                <a:schemeClr val="accent5">
                  <a:lumMod val="50000"/>
                </a:schemeClr>
              </a:solidFill>
              <a:effectLst/>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4264D2D6-D0C1-0638-5118-01A6C5E59FCA}"/>
              </a:ext>
            </a:extLst>
          </p:cNvPr>
          <p:cNvSpPr txBox="1"/>
          <p:nvPr/>
        </p:nvSpPr>
        <p:spPr>
          <a:xfrm>
            <a:off x="6901961" y="3087368"/>
            <a:ext cx="4901502" cy="341632"/>
          </a:xfrm>
          <a:prstGeom prst="rect">
            <a:avLst/>
          </a:prstGeom>
          <a:noFill/>
        </p:spPr>
        <p:txBody>
          <a:bodyPr wrap="square">
            <a:spAutoFit/>
          </a:bodyPr>
          <a:lstStyle/>
          <a:p>
            <a:pPr marR="0" lvl="0" algn="ctr">
              <a:lnSpc>
                <a:spcPct val="90000"/>
              </a:lnSpc>
              <a:spcBef>
                <a:spcPts val="1200"/>
              </a:spcBef>
              <a:spcAft>
                <a:spcPts val="600"/>
              </a:spcAft>
              <a:buSzPts val="800"/>
              <a:tabLst>
                <a:tab pos="685800" algn="l"/>
              </a:tabLst>
            </a:pPr>
            <a:r>
              <a:rPr lang="en-US" b="1" dirty="0">
                <a:solidFill>
                  <a:schemeClr val="accent5">
                    <a:lumMod val="50000"/>
                  </a:schemeClr>
                </a:solidFill>
                <a:effectLst/>
                <a:latin typeface="Cambria" panose="02040503050406030204" pitchFamily="18" charset="0"/>
                <a:ea typeface="Cambria" panose="02040503050406030204" pitchFamily="18" charset="0"/>
              </a:rPr>
              <a:t>Data generated by the Hybrid ABM-SD model</a:t>
            </a:r>
            <a:endParaRPr lang="en-IN" b="1" dirty="0">
              <a:solidFill>
                <a:schemeClr val="accent5">
                  <a:lumMod val="50000"/>
                </a:schemeClr>
              </a:solidFill>
              <a:effectLst/>
              <a:latin typeface="Cambria" panose="02040503050406030204" pitchFamily="18" charset="0"/>
              <a:ea typeface="Cambria" panose="02040503050406030204" pitchFamily="18" charset="0"/>
            </a:endParaRPr>
          </a:p>
        </p:txBody>
      </p:sp>
      <p:sp>
        <p:nvSpPr>
          <p:cNvPr id="17" name="TextBox 16">
            <a:extLst>
              <a:ext uri="{FF2B5EF4-FFF2-40B4-BE49-F238E27FC236}">
                <a16:creationId xmlns:a16="http://schemas.microsoft.com/office/drawing/2014/main" id="{88F9CD36-2ACA-3B73-BFC8-50478A78BD23}"/>
              </a:ext>
            </a:extLst>
          </p:cNvPr>
          <p:cNvSpPr txBox="1"/>
          <p:nvPr/>
        </p:nvSpPr>
        <p:spPr>
          <a:xfrm>
            <a:off x="388535" y="799256"/>
            <a:ext cx="11414928" cy="2120068"/>
          </a:xfrm>
          <a:prstGeom prst="rect">
            <a:avLst/>
          </a:prstGeom>
          <a:noFill/>
        </p:spPr>
        <p:txBody>
          <a:bodyPr wrap="square">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This research explores the integration of security within CI/CD pipelines, emphasizing their interconnected nature through automated and continuous protection mechanisms.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Similar to how multiple security layers work together to reduce risks and improve system reliability, SAST (static analysis), DAST (dynamic testing), and SCA (dependency analysis) collaboratively enhance software security throughout the development lifecycle. </a:t>
            </a:r>
          </a:p>
        </p:txBody>
      </p:sp>
      <p:sp>
        <p:nvSpPr>
          <p:cNvPr id="18" name="TextBox 17">
            <a:extLst>
              <a:ext uri="{FF2B5EF4-FFF2-40B4-BE49-F238E27FC236}">
                <a16:creationId xmlns:a16="http://schemas.microsoft.com/office/drawing/2014/main" id="{E3B2B53C-31C1-2547-AAB8-DACB58931886}"/>
              </a:ext>
            </a:extLst>
          </p:cNvPr>
          <p:cNvSpPr txBox="1"/>
          <p:nvPr/>
        </p:nvSpPr>
        <p:spPr>
          <a:xfrm>
            <a:off x="4218214" y="214481"/>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Discussion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1117FCBE-E847-A372-D4FC-C2A997ED5FD3}"/>
              </a:ext>
            </a:extLst>
          </p:cNvPr>
          <p:cNvPicPr>
            <a:picLocks noChangeAspect="1"/>
          </p:cNvPicPr>
          <p:nvPr/>
        </p:nvPicPr>
        <p:blipFill>
          <a:blip r:embed="rId2"/>
          <a:stretch>
            <a:fillRect/>
          </a:stretch>
        </p:blipFill>
        <p:spPr>
          <a:xfrm>
            <a:off x="6901961" y="3688862"/>
            <a:ext cx="4813301" cy="2858727"/>
          </a:xfrm>
          <a:prstGeom prst="rect">
            <a:avLst/>
          </a:prstGeom>
        </p:spPr>
      </p:pic>
    </p:spTree>
    <p:extLst>
      <p:ext uri="{BB962C8B-B14F-4D97-AF65-F5344CB8AC3E}">
        <p14:creationId xmlns:p14="http://schemas.microsoft.com/office/powerpoint/2010/main" val="1611290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AA2EEB-79AE-AF0E-3085-9CC3D4ACC28C}"/>
              </a:ext>
            </a:extLst>
          </p:cNvPr>
          <p:cNvSpPr txBox="1"/>
          <p:nvPr/>
        </p:nvSpPr>
        <p:spPr>
          <a:xfrm>
            <a:off x="4005944" y="44698"/>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1477681A-3610-0B1A-3A5A-650FAD7A32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9472"/>
            <a:ext cx="12192000" cy="6228528"/>
          </a:xfrm>
          <a:prstGeom prst="rect">
            <a:avLst/>
          </a:prstGeom>
        </p:spPr>
      </p:pic>
    </p:spTree>
    <p:extLst>
      <p:ext uri="{BB962C8B-B14F-4D97-AF65-F5344CB8AC3E}">
        <p14:creationId xmlns:p14="http://schemas.microsoft.com/office/powerpoint/2010/main" val="2093185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B5F60F9-6495-2A3A-2138-5BF6443D6A10}"/>
              </a:ext>
            </a:extLst>
          </p:cNvPr>
          <p:cNvSpPr>
            <a:spLocks noChangeArrowheads="1"/>
          </p:cNvSpPr>
          <p:nvPr/>
        </p:nvSpPr>
        <p:spPr bwMode="auto">
          <a:xfrm>
            <a:off x="495771" y="2146391"/>
            <a:ext cx="8889298" cy="241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system detected vulnerabilities using SAST, SCA, and DAST at different stages. </a:t>
            </a:r>
          </a:p>
          <a:p>
            <a:pPr marL="285750" lvl="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Early detection reduced security risks and errors. </a:t>
            </a:r>
          </a:p>
          <a:p>
            <a:pPr marL="285750" lvl="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Dependency issues were identified and fixed using SCA. </a:t>
            </a:r>
          </a:p>
          <a:p>
            <a:pPr marL="285750" lvl="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Runtime vulnerabilities were detected using DAST. </a:t>
            </a:r>
          </a:p>
          <a:p>
            <a:pPr marL="285750" lvl="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Overall, the pipeline showed improved security and efficiency.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F77C8A19-2DEA-EB5E-7651-2AB6EC3AE67D}"/>
              </a:ext>
            </a:extLst>
          </p:cNvPr>
          <p:cNvSpPr txBox="1"/>
          <p:nvPr/>
        </p:nvSpPr>
        <p:spPr>
          <a:xfrm>
            <a:off x="4218214" y="936277"/>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04057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8C14A7F-5BEB-FE38-EF21-88C94E592B15}"/>
              </a:ext>
            </a:extLst>
          </p:cNvPr>
          <p:cNvSpPr>
            <a:spLocks noChangeArrowheads="1"/>
          </p:cNvSpPr>
          <p:nvPr/>
        </p:nvSpPr>
        <p:spPr bwMode="auto">
          <a:xfrm>
            <a:off x="520535" y="2493657"/>
            <a:ext cx="10624457"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integration of SAST, SCA, and DAST strengthens overall pipeline security.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Early detection helps in reducing vulnerabilities and risks.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Automation improves efficiency and development speed.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system ensures secure and reliable software deployment.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It provides a scalable and effective DevSecOps solution. </a:t>
            </a:r>
          </a:p>
        </p:txBody>
      </p:sp>
      <p:sp>
        <p:nvSpPr>
          <p:cNvPr id="5" name="TextBox 4">
            <a:extLst>
              <a:ext uri="{FF2B5EF4-FFF2-40B4-BE49-F238E27FC236}">
                <a16:creationId xmlns:a16="http://schemas.microsoft.com/office/drawing/2014/main" id="{1002ECE6-3E5B-77E0-F3FB-F88FAE3019CF}"/>
              </a:ext>
            </a:extLst>
          </p:cNvPr>
          <p:cNvSpPr txBox="1"/>
          <p:nvPr/>
        </p:nvSpPr>
        <p:spPr>
          <a:xfrm>
            <a:off x="3954977" y="951907"/>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kern="0" cap="small" dirty="0">
                <a:solidFill>
                  <a:schemeClr val="accent1">
                    <a:lumMod val="50000"/>
                  </a:schemeClr>
                </a:solidFill>
                <a:latin typeface="Cambria" panose="02040503050406030204" pitchFamily="18" charset="0"/>
                <a:ea typeface="Cambria" panose="02040503050406030204" pitchFamily="18" charset="0"/>
              </a:rPr>
              <a:t>Conclusion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5532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BCB49A-7566-1752-A6C3-8828599304A3}"/>
              </a:ext>
            </a:extLst>
          </p:cNvPr>
          <p:cNvSpPr txBox="1"/>
          <p:nvPr/>
        </p:nvSpPr>
        <p:spPr>
          <a:xfrm>
            <a:off x="4659085" y="1135298"/>
            <a:ext cx="2873829"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Future Scope</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CB6F95D3-3CB0-4D01-D076-6FC354DDC01B}"/>
              </a:ext>
            </a:extLst>
          </p:cNvPr>
          <p:cNvSpPr txBox="1"/>
          <p:nvPr/>
        </p:nvSpPr>
        <p:spPr>
          <a:xfrm>
            <a:off x="881147" y="2242034"/>
            <a:ext cx="8370918" cy="2951064"/>
          </a:xfrm>
          <a:prstGeom prst="rect">
            <a:avLst/>
          </a:prstGeom>
          <a:noFill/>
        </p:spPr>
        <p:txBody>
          <a:bodyPr wrap="square">
            <a:spAutoFit/>
          </a:bodyPr>
          <a:lstStyle/>
          <a:p>
            <a:pPr marL="342900" lvl="0" indent="-3429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Integration of AI/ML techniques for intelligent and automated vulnerability detection. </a:t>
            </a:r>
          </a:p>
          <a:p>
            <a:pPr marL="342900" lvl="0" indent="-3429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Enhancement of real-time monitoring and predictive threat analysis. </a:t>
            </a:r>
          </a:p>
          <a:p>
            <a:pPr marL="342900" lvl="0" indent="-3429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Support for cloud-native and microservices architectures. </a:t>
            </a:r>
          </a:p>
          <a:p>
            <a:pPr marL="342900" lvl="0" indent="-3429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Improvement in reducing false positives and increasing detection accuracy. </a:t>
            </a:r>
          </a:p>
          <a:p>
            <a:pPr marL="342900" lvl="0" indent="-3429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Implementation of advanced security automation tools for fully autonomous DevSecOps pipelines.</a:t>
            </a:r>
          </a:p>
        </p:txBody>
      </p:sp>
    </p:spTree>
    <p:extLst>
      <p:ext uri="{BB962C8B-B14F-4D97-AF65-F5344CB8AC3E}">
        <p14:creationId xmlns:p14="http://schemas.microsoft.com/office/powerpoint/2010/main" val="2814907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C2B2C8-3E95-6CDE-3A5A-E617D11CACDE}"/>
              </a:ext>
            </a:extLst>
          </p:cNvPr>
          <p:cNvSpPr txBox="1"/>
          <p:nvPr/>
        </p:nvSpPr>
        <p:spPr>
          <a:xfrm>
            <a:off x="4798882" y="439729"/>
            <a:ext cx="2422435"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References</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170841C-8FFD-5D1D-7ACD-AAF02ACEB19B}"/>
              </a:ext>
            </a:extLst>
          </p:cNvPr>
          <p:cNvSpPr txBox="1"/>
          <p:nvPr/>
        </p:nvSpPr>
        <p:spPr>
          <a:xfrm>
            <a:off x="266004" y="1306566"/>
            <a:ext cx="11488189" cy="502855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Behl, A. (2017). </a:t>
            </a:r>
            <a:r>
              <a:rPr lang="en-IN" i="1" dirty="0">
                <a:latin typeface="Times New Roman" panose="02020603050405020304" pitchFamily="18" charset="0"/>
                <a:cs typeface="Times New Roman" panose="02020603050405020304" pitchFamily="18" charset="0"/>
              </a:rPr>
              <a:t>DevSecOps: Integrating Security into DevOps</a:t>
            </a:r>
            <a:r>
              <a:rPr lang="en-IN" dirty="0">
                <a:latin typeface="Times New Roman" panose="02020603050405020304" pitchFamily="18" charset="0"/>
                <a:cs typeface="Times New Roman" panose="02020603050405020304" pitchFamily="18" charset="0"/>
              </a:rPr>
              <a:t>. IEEE Software.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Rahman, M., &amp; Williams, L. (2018). </a:t>
            </a:r>
            <a:r>
              <a:rPr lang="en-IN" i="1" dirty="0">
                <a:latin typeface="Times New Roman" panose="02020603050405020304" pitchFamily="18" charset="0"/>
                <a:cs typeface="Times New Roman" panose="02020603050405020304" pitchFamily="18" charset="0"/>
              </a:rPr>
              <a:t>Security Practices in Continuous Integration Environments</a:t>
            </a:r>
            <a:r>
              <a:rPr lang="en-IN" dirty="0">
                <a:latin typeface="Times New Roman" panose="02020603050405020304" pitchFamily="18" charset="0"/>
                <a:cs typeface="Times New Roman" panose="02020603050405020304" pitchFamily="18" charset="0"/>
              </a:rPr>
              <a:t>. ACM Digital Library.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Sharma, T. (2019). </a:t>
            </a:r>
            <a:r>
              <a:rPr lang="en-IN" i="1" dirty="0">
                <a:latin typeface="Times New Roman" panose="02020603050405020304" pitchFamily="18" charset="0"/>
                <a:cs typeface="Times New Roman" panose="02020603050405020304" pitchFamily="18" charset="0"/>
              </a:rPr>
              <a:t>Automated Security Testing in CI/CD Pipelines</a:t>
            </a:r>
            <a:r>
              <a:rPr lang="en-IN" dirty="0">
                <a:latin typeface="Times New Roman" panose="02020603050405020304" pitchFamily="18" charset="0"/>
                <a:cs typeface="Times New Roman" panose="02020603050405020304" pitchFamily="18" charset="0"/>
              </a:rPr>
              <a:t>. International Journal of Computer Applications (IJCA).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Kumar, R., &amp; Singh, P. (2020). </a:t>
            </a:r>
            <a:r>
              <a:rPr lang="en-IN" i="1" dirty="0">
                <a:latin typeface="Times New Roman" panose="02020603050405020304" pitchFamily="18" charset="0"/>
                <a:cs typeface="Times New Roman" panose="02020603050405020304" pitchFamily="18" charset="0"/>
              </a:rPr>
              <a:t>Dynamic Application Security Testing in DevOps</a:t>
            </a:r>
            <a:r>
              <a:rPr lang="en-IN" dirty="0">
                <a:latin typeface="Times New Roman" panose="02020603050405020304" pitchFamily="18" charset="0"/>
                <a:cs typeface="Times New Roman" panose="02020603050405020304" pitchFamily="18" charset="0"/>
              </a:rPr>
              <a:t>. IEEE Access.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Zhang, Q. (2021). </a:t>
            </a:r>
            <a:r>
              <a:rPr lang="en-IN" i="1" dirty="0">
                <a:latin typeface="Times New Roman" panose="02020603050405020304" pitchFamily="18" charset="0"/>
                <a:cs typeface="Times New Roman" panose="02020603050405020304" pitchFamily="18" charset="0"/>
              </a:rPr>
              <a:t>Software Composition Analysis for Open Source Risk Management</a:t>
            </a:r>
            <a:r>
              <a:rPr lang="en-IN" dirty="0">
                <a:latin typeface="Times New Roman" panose="02020603050405020304" pitchFamily="18" charset="0"/>
                <a:cs typeface="Times New Roman" panose="02020603050405020304" pitchFamily="18" charset="0"/>
              </a:rPr>
              <a:t>. Journal of Cybersecurity.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Patel, S., &amp; Mehta, D. (2022). </a:t>
            </a:r>
            <a:r>
              <a:rPr lang="en-IN" i="1" dirty="0">
                <a:latin typeface="Times New Roman" panose="02020603050405020304" pitchFamily="18" charset="0"/>
                <a:cs typeface="Times New Roman" panose="02020603050405020304" pitchFamily="18" charset="0"/>
              </a:rPr>
              <a:t>Integrated Security Framework for CI/CD Pipelines</a:t>
            </a:r>
            <a:r>
              <a:rPr lang="en-IN" dirty="0">
                <a:latin typeface="Times New Roman" panose="02020603050405020304" pitchFamily="18" charset="0"/>
                <a:cs typeface="Times New Roman" panose="02020603050405020304" pitchFamily="18" charset="0"/>
              </a:rPr>
              <a:t>. Springer Journal of Systems Engineering.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Reddy, K., &amp; Rao, V. (2023). </a:t>
            </a:r>
            <a:r>
              <a:rPr lang="en-IN" i="1" dirty="0">
                <a:latin typeface="Times New Roman" panose="02020603050405020304" pitchFamily="18" charset="0"/>
                <a:cs typeface="Times New Roman" panose="02020603050405020304" pitchFamily="18" charset="0"/>
              </a:rPr>
              <a:t>Secure CI/CD Pipeline Automation using DevSecOps</a:t>
            </a:r>
            <a:r>
              <a:rPr lang="en-IN" dirty="0">
                <a:latin typeface="Times New Roman" panose="02020603050405020304" pitchFamily="18" charset="0"/>
                <a:cs typeface="Times New Roman" panose="02020603050405020304" pitchFamily="18" charset="0"/>
              </a:rPr>
              <a:t>. International Conference on DevOps and Cloud Computing.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Gupta, N. (2024). </a:t>
            </a:r>
            <a:r>
              <a:rPr lang="en-IN" i="1" dirty="0">
                <a:latin typeface="Times New Roman" panose="02020603050405020304" pitchFamily="18" charset="0"/>
                <a:cs typeface="Times New Roman" panose="02020603050405020304" pitchFamily="18" charset="0"/>
              </a:rPr>
              <a:t>AI-Driven Security Testing in CI/CD Pipelines</a:t>
            </a:r>
            <a:r>
              <a:rPr lang="en-IN" dirty="0">
                <a:latin typeface="Times New Roman" panose="02020603050405020304" pitchFamily="18" charset="0"/>
                <a:cs typeface="Times New Roman" panose="02020603050405020304" pitchFamily="18" charset="0"/>
              </a:rPr>
              <a:t>. IEEE International Conference on Emerging Technologies. </a:t>
            </a:r>
          </a:p>
        </p:txBody>
      </p:sp>
    </p:spTree>
    <p:extLst>
      <p:ext uri="{BB962C8B-B14F-4D97-AF65-F5344CB8AC3E}">
        <p14:creationId xmlns:p14="http://schemas.microsoft.com/office/powerpoint/2010/main" val="3822484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7D661C-0492-B2DC-6906-6403F07E81D6}"/>
              </a:ext>
            </a:extLst>
          </p:cNvPr>
          <p:cNvSpPr txBox="1"/>
          <p:nvPr/>
        </p:nvSpPr>
        <p:spPr>
          <a:xfrm>
            <a:off x="4290422" y="636895"/>
            <a:ext cx="3611155" cy="584775"/>
          </a:xfrm>
          <a:prstGeom prst="rect">
            <a:avLst/>
          </a:prstGeom>
          <a:noFill/>
        </p:spPr>
        <p:txBody>
          <a:bodyPr wrap="square">
            <a:spAutoFit/>
          </a:bodyPr>
          <a:lstStyle/>
          <a:p>
            <a:pPr lvl="0" fontAlgn="base"/>
            <a:r>
              <a:rPr lang="en-US" sz="3200" b="1" cap="small" dirty="0">
                <a:solidFill>
                  <a:schemeClr val="accent1">
                    <a:lumMod val="50000"/>
                  </a:schemeClr>
                </a:solidFill>
                <a:latin typeface="Cambria" panose="02040503050406030204" pitchFamily="18" charset="0"/>
                <a:ea typeface="Cambria" panose="02040503050406030204" pitchFamily="18" charset="0"/>
              </a:rPr>
              <a:t>Acknowledgement</a:t>
            </a:r>
            <a:endParaRPr lang="en-IN" sz="3200" b="1" cap="small" dirty="0">
              <a:solidFill>
                <a:schemeClr val="accent1">
                  <a:lumMod val="50000"/>
                </a:schemeClr>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4A221062-8002-BF39-9B3C-255D4D384CB7}"/>
              </a:ext>
            </a:extLst>
          </p:cNvPr>
          <p:cNvSpPr txBox="1"/>
          <p:nvPr/>
        </p:nvSpPr>
        <p:spPr>
          <a:xfrm>
            <a:off x="726831" y="1608047"/>
            <a:ext cx="10738338" cy="461305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 would like to express my sincere gratitude to my guide for their constant guidance, valuable suggestions, and support throughout the project.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 am deeply thankful to all the faculty members of my department for their encouragement and academic support.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 extend my gratitude to my institution for providing the necessary infrastructure and learning environment. </a:t>
            </a:r>
          </a:p>
          <a:p>
            <a:pPr marL="342900" lvl="0" indent="-342900">
              <a:lnSpc>
                <a:spcPct val="15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I </a:t>
            </a:r>
            <a:r>
              <a:rPr lang="en-IN" dirty="0">
                <a:latin typeface="Times New Roman" panose="02020603050405020304" pitchFamily="18" charset="0"/>
                <a:cs typeface="Times New Roman" panose="02020603050405020304" pitchFamily="18" charset="0"/>
              </a:rPr>
              <a:t>sincerely thank the authors and researchers whose work in the literature review helped shape this project.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 acknowledge the use of various online resources, tools, and documentation that supported the implementation of this project.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 appreciate the developers of open-source tools and platforms used in this study.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 am thankful for the constructive feedback received during the development phase, which improved the quality of this work</a:t>
            </a:r>
            <a:r>
              <a:rPr lang="en-IN">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4848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BCB8219-7509-321B-0188-55FB5B732DE8}"/>
              </a:ext>
            </a:extLst>
          </p:cNvPr>
          <p:cNvPicPr>
            <a:picLocks noChangeAspect="1"/>
          </p:cNvPicPr>
          <p:nvPr/>
        </p:nvPicPr>
        <p:blipFill>
          <a:blip r:embed="rId2"/>
          <a:stretch>
            <a:fillRect/>
          </a:stretch>
        </p:blipFill>
        <p:spPr>
          <a:xfrm>
            <a:off x="0" y="0"/>
            <a:ext cx="12294524" cy="6700058"/>
          </a:xfrm>
          <a:prstGeom prst="rect">
            <a:avLst/>
          </a:prstGeom>
        </p:spPr>
      </p:pic>
    </p:spTree>
    <p:extLst>
      <p:ext uri="{BB962C8B-B14F-4D97-AF65-F5344CB8AC3E}">
        <p14:creationId xmlns:p14="http://schemas.microsoft.com/office/powerpoint/2010/main" val="4211494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681</TotalTime>
  <Words>1705</Words>
  <Application>Microsoft Office PowerPoint</Application>
  <PresentationFormat>Widescreen</PresentationFormat>
  <Paragraphs>140</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Cambria</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1: Static Application Security Testing (SAST)</vt:lpstr>
      <vt:lpstr>Module 2: Software Composition Analysis (SCA)</vt:lpstr>
      <vt:lpstr>Module 3: DAST and Security Gate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gnanaraj</dc:creator>
  <cp:lastModifiedBy>Harish T</cp:lastModifiedBy>
  <cp:revision>19</cp:revision>
  <dcterms:created xsi:type="dcterms:W3CDTF">2025-08-11T02:48:58Z</dcterms:created>
  <dcterms:modified xsi:type="dcterms:W3CDTF">2026-08-18T04:35:14Z</dcterms:modified>
</cp:coreProperties>
</file>